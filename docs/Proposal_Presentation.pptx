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0" r:id="rId5"/>
    <p:sldId id="266" r:id="rId6"/>
    <p:sldId id="259" r:id="rId7"/>
    <p:sldId id="260" r:id="rId8"/>
    <p:sldId id="274" r:id="rId9"/>
    <p:sldId id="267" r:id="rId10"/>
    <p:sldId id="261" r:id="rId11"/>
    <p:sldId id="268" r:id="rId12"/>
    <p:sldId id="262" r:id="rId13"/>
    <p:sldId id="271" r:id="rId14"/>
    <p:sldId id="263" r:id="rId15"/>
    <p:sldId id="273" r:id="rId16"/>
    <p:sldId id="269" r:id="rId17"/>
    <p:sldId id="264" r:id="rId18"/>
    <p:sldId id="26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09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A63B2-8F8F-41E2-8070-2156AADBE15E}" type="datetimeFigureOut">
              <a:rPr lang="en-US" smtClean="0"/>
              <a:t>11/8/2025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B1AEE-0BF9-49B2-AA3D-FB9E29A43D13}" type="slidenum">
              <a:rPr lang="en-US" smtClean="0"/>
              <a:t>‹#›</a:t>
            </a:fld>
            <a:endParaRPr lang="en-US"/>
          </a:p>
        </p:txBody>
      </p:sp>
    </p:spTree>
    <p:extLst>
      <p:ext uri="{BB962C8B-B14F-4D97-AF65-F5344CB8AC3E}">
        <p14:creationId xmlns:p14="http://schemas.microsoft.com/office/powerpoint/2010/main" val="3238767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BB1AEE-0BF9-49B2-AA3D-FB9E29A43D13}" type="slidenum">
              <a:rPr lang="en-US" smtClean="0"/>
              <a:t>1</a:t>
            </a:fld>
            <a:endParaRPr lang="en-US"/>
          </a:p>
        </p:txBody>
      </p:sp>
    </p:spTree>
    <p:extLst>
      <p:ext uri="{BB962C8B-B14F-4D97-AF65-F5344CB8AC3E}">
        <p14:creationId xmlns:p14="http://schemas.microsoft.com/office/powerpoint/2010/main" val="3887109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BB1AEE-0BF9-49B2-AA3D-FB9E29A43D13}" type="slidenum">
              <a:rPr lang="en-US" smtClean="0"/>
              <a:t>2</a:t>
            </a:fld>
            <a:endParaRPr lang="en-US"/>
          </a:p>
        </p:txBody>
      </p:sp>
    </p:spTree>
    <p:extLst>
      <p:ext uri="{BB962C8B-B14F-4D97-AF65-F5344CB8AC3E}">
        <p14:creationId xmlns:p14="http://schemas.microsoft.com/office/powerpoint/2010/main" val="267412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BB1AEE-0BF9-49B2-AA3D-FB9E29A43D13}" type="slidenum">
              <a:rPr lang="en-US" smtClean="0"/>
              <a:t>17</a:t>
            </a:fld>
            <a:endParaRPr lang="en-US"/>
          </a:p>
        </p:txBody>
      </p:sp>
    </p:spTree>
    <p:extLst>
      <p:ext uri="{BB962C8B-B14F-4D97-AF65-F5344CB8AC3E}">
        <p14:creationId xmlns:p14="http://schemas.microsoft.com/office/powerpoint/2010/main" val="904871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24018/ejece.2024.8.3.617" TargetMode="External"/><Relationship Id="rId2" Type="http://schemas.openxmlformats.org/officeDocument/2006/relationships/hyperlink" Target="https://www.who.int/news-room/fact-sheets/detail/noncommunicable-diseases" TargetMode="External"/><Relationship Id="rId1" Type="http://schemas.openxmlformats.org/officeDocument/2006/relationships/slideLayout" Target="../slideLayouts/slideLayout2.xml"/><Relationship Id="rId5" Type="http://schemas.openxmlformats.org/officeDocument/2006/relationships/hyperlink" Target="https://www.jetir.org/papers/JETIRGG06032.pdf" TargetMode="External"/><Relationship Id="rId4" Type="http://schemas.openxmlformats.org/officeDocument/2006/relationships/hyperlink" Target="https://doi.org/10.32604/cmes.2021.0167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8033994" cy="2111637"/>
          </a:xfrm>
        </p:spPr>
        <p:txBody>
          <a:bodyPr>
            <a:normAutofit fontScale="90000"/>
          </a:bodyPr>
          <a:lstStyle/>
          <a:p>
            <a:pPr>
              <a:defRPr sz="3200" b="1">
                <a:solidFill>
                  <a:srgbClr val="1E40AF"/>
                </a:solidFill>
                <a:latin typeface="Calibri"/>
              </a:defRPr>
            </a:pPr>
            <a:r>
              <a:rPr dirty="0">
                <a:latin typeface="Times New Roman" panose="02020603050405020304" pitchFamily="18" charset="0"/>
                <a:cs typeface="Times New Roman" panose="02020603050405020304" pitchFamily="18" charset="0"/>
              </a:rPr>
              <a:t>Development Project - CIS 6035 Proposal</a:t>
            </a:r>
          </a:p>
          <a:p>
            <a:r>
              <a:rPr dirty="0">
                <a:latin typeface="Times New Roman" panose="02020603050405020304" pitchFamily="18" charset="0"/>
                <a:cs typeface="Times New Roman" panose="02020603050405020304" pitchFamily="18" charset="0"/>
              </a:rPr>
              <a:t>AI-Powered Smart Healthcare System</a:t>
            </a:r>
          </a:p>
          <a:p>
            <a:r>
              <a:rPr dirty="0">
                <a:latin typeface="Times New Roman" panose="02020603050405020304" pitchFamily="18" charset="0"/>
                <a:cs typeface="Times New Roman" panose="02020603050405020304" pitchFamily="18" charset="0"/>
              </a:rPr>
              <a:t>for Multi-Disease Prediction, Risk Assessment, and</a:t>
            </a:r>
            <a:r>
              <a:rPr lang="en-US" dirty="0">
                <a:latin typeface="Times New Roman" panose="02020603050405020304" pitchFamily="18" charset="0"/>
                <a:cs typeface="Times New Roman" panose="02020603050405020304" pitchFamily="18" charset="0"/>
              </a:rPr>
              <a:t> Personalized Health Recommendations</a:t>
            </a:r>
            <a:br>
              <a:rPr lang="en-US" dirty="0"/>
            </a:br>
            <a:endParaRPr dirty="0"/>
          </a:p>
        </p:txBody>
      </p:sp>
      <p:sp>
        <p:nvSpPr>
          <p:cNvPr id="3" name="Subtitle 2"/>
          <p:cNvSpPr>
            <a:spLocks noGrp="1"/>
          </p:cNvSpPr>
          <p:nvPr>
            <p:ph type="subTitle" idx="1"/>
          </p:nvPr>
        </p:nvSpPr>
        <p:spPr>
          <a:xfrm>
            <a:off x="140208" y="4833341"/>
            <a:ext cx="6400800" cy="1752600"/>
          </a:xfrm>
        </p:spPr>
        <p:txBody>
          <a:bodyPr/>
          <a:lstStyle/>
          <a:p>
            <a:pPr>
              <a:defRPr sz="1800">
                <a:solidFill>
                  <a:srgbClr val="4B5563"/>
                </a:solidFill>
                <a:latin typeface="Calibri"/>
              </a:defRPr>
            </a:pPr>
            <a:endParaRPr lang="en-US" dirty="0"/>
          </a:p>
          <a:p>
            <a:pPr algn="l">
              <a:defRPr sz="1800">
                <a:solidFill>
                  <a:srgbClr val="4B5563"/>
                </a:solidFill>
                <a:latin typeface="Calibri"/>
              </a:defRPr>
            </a:pPr>
            <a:r>
              <a:rPr b="1" dirty="0">
                <a:solidFill>
                  <a:schemeClr val="tx1"/>
                </a:solidFill>
                <a:latin typeface="Arial" panose="020B0604020202020204" pitchFamily="34" charset="0"/>
                <a:cs typeface="Arial" panose="020B0604020202020204" pitchFamily="34" charset="0"/>
              </a:rPr>
              <a:t>Programme: B. Sc (Hons) Software Engineering</a:t>
            </a:r>
          </a:p>
          <a:p>
            <a:pPr algn="l">
              <a:defRPr sz="1800">
                <a:solidFill>
                  <a:srgbClr val="4B5563"/>
                </a:solidFill>
                <a:latin typeface="Calibri"/>
              </a:defRPr>
            </a:pPr>
            <a:r>
              <a:rPr b="1" dirty="0">
                <a:solidFill>
                  <a:schemeClr val="tx1"/>
                </a:solidFill>
                <a:latin typeface="Arial" panose="020B0604020202020204" pitchFamily="34" charset="0"/>
                <a:cs typeface="Arial" panose="020B0604020202020204" pitchFamily="34" charset="0"/>
              </a:rPr>
              <a:t>Student Name: Nishmiya Gnanaseelan</a:t>
            </a:r>
          </a:p>
          <a:p>
            <a:pPr algn="l">
              <a:defRPr sz="1800">
                <a:solidFill>
                  <a:srgbClr val="4B5563"/>
                </a:solidFill>
                <a:latin typeface="Calibri"/>
              </a:defRPr>
            </a:pPr>
            <a:r>
              <a:rPr b="1" dirty="0">
                <a:solidFill>
                  <a:schemeClr val="tx1"/>
                </a:solidFill>
                <a:latin typeface="Arial" panose="020B0604020202020204" pitchFamily="34" charset="0"/>
                <a:cs typeface="Arial" panose="020B0604020202020204" pitchFamily="34" charset="0"/>
              </a:rPr>
              <a:t>ICBT No: JF/BSCSD/17/33</a:t>
            </a:r>
          </a:p>
          <a:p>
            <a:pPr algn="l">
              <a:defRPr sz="1800">
                <a:solidFill>
                  <a:srgbClr val="4B5563"/>
                </a:solidFill>
                <a:latin typeface="Calibri"/>
              </a:defRPr>
            </a:pPr>
            <a:r>
              <a:rPr b="1" dirty="0">
                <a:solidFill>
                  <a:schemeClr val="tx1"/>
                </a:solidFill>
                <a:latin typeface="Arial" panose="020B0604020202020204" pitchFamily="34" charset="0"/>
                <a:cs typeface="Arial" panose="020B0604020202020204" pitchFamily="34" charset="0"/>
              </a:rPr>
              <a:t>October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400" b="1">
                <a:solidFill>
                  <a:srgbClr val="1E40AF"/>
                </a:solidFill>
                <a:latin typeface="Calibri"/>
              </a:defRPr>
            </a:pPr>
            <a:r>
              <a:rPr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57200" y="1600200"/>
            <a:ext cx="8300301" cy="4546076"/>
          </a:xfrm>
        </p:spPr>
        <p:txBody>
          <a:bodyPr wrap="square">
            <a:noAutofit/>
          </a:bodyPr>
          <a:lstStyle/>
          <a:p>
            <a:pPr algn="just">
              <a:spcAft>
                <a:spcPts val="1200"/>
              </a:spcAft>
            </a:pPr>
            <a:r>
              <a:rPr lang="en-US" sz="2400" dirty="0">
                <a:latin typeface="Times New Roman" panose="02020603050405020304" pitchFamily="18" charset="0"/>
                <a:cs typeface="Times New Roman" panose="02020603050405020304" pitchFamily="18" charset="0"/>
              </a:rPr>
              <a:t>Background: </a:t>
            </a:r>
            <a:r>
              <a:rPr sz="2400" dirty="0">
                <a:latin typeface="Times New Roman" panose="02020603050405020304" pitchFamily="18" charset="0"/>
                <a:cs typeface="Times New Roman" panose="02020603050405020304" pitchFamily="18" charset="0"/>
              </a:rPr>
              <a:t>Healthcare s</a:t>
            </a:r>
            <a:r>
              <a:rPr lang="en-US" sz="2400" dirty="0">
                <a:latin typeface="Times New Roman" panose="02020603050405020304" pitchFamily="18" charset="0"/>
                <a:cs typeface="Times New Roman" panose="02020603050405020304" pitchFamily="18" charset="0"/>
              </a:rPr>
              <a:t>ectors</a:t>
            </a:r>
            <a:r>
              <a:rPr sz="2400" dirty="0">
                <a:latin typeface="Times New Roman" panose="02020603050405020304" pitchFamily="18" charset="0"/>
                <a:cs typeface="Times New Roman" panose="02020603050405020304" pitchFamily="18" charset="0"/>
              </a:rPr>
              <a:t> globally face critical challenges. Chronic diseases (Diabetes, Heart Disease, Kidney Disease) account for 71% of global deaths. There is a growing demand for accessible preventive healthcare.</a:t>
            </a:r>
            <a:endParaRPr lang="en-US" sz="2400" dirty="0">
              <a:latin typeface="Times New Roman" panose="02020603050405020304" pitchFamily="18" charset="0"/>
              <a:cs typeface="Times New Roman" panose="02020603050405020304" pitchFamily="18" charset="0"/>
            </a:endParaRPr>
          </a:p>
          <a:p>
            <a:pPr algn="just">
              <a:spcAft>
                <a:spcPts val="1200"/>
              </a:spcAft>
            </a:pPr>
            <a:r>
              <a:rPr lang="en-US" sz="2400" dirty="0">
                <a:latin typeface="Times New Roman" panose="02020603050405020304" pitchFamily="18" charset="0"/>
                <a:cs typeface="Times New Roman" panose="02020603050405020304" pitchFamily="18" charset="0"/>
              </a:rPr>
              <a:t>Purpose: To develop an AI-powered web-based system for early disease detection, making quality healthcare advice accessible to all users. </a:t>
            </a:r>
          </a:p>
          <a:p>
            <a:pPr algn="just">
              <a:spcAft>
                <a:spcPts val="1200"/>
              </a:spcAft>
            </a:pPr>
            <a:r>
              <a:rPr sz="2400" dirty="0">
                <a:latin typeface="Times New Roman" panose="02020603050405020304" pitchFamily="18" charset="0"/>
                <a:cs typeface="Times New Roman" panose="02020603050405020304" pitchFamily="18" charset="0"/>
              </a:rPr>
              <a:t>Relevance</a:t>
            </a:r>
            <a:r>
              <a:rPr lang="en-US" sz="2400" dirty="0">
                <a:latin typeface="Times New Roman" panose="02020603050405020304" pitchFamily="18" charset="0"/>
                <a:cs typeface="Times New Roman" panose="02020603050405020304" pitchFamily="18" charset="0"/>
              </a:rPr>
              <a:t>:</a:t>
            </a:r>
            <a:r>
              <a:rPr sz="2400" dirty="0">
                <a:latin typeface="Times New Roman" panose="02020603050405020304" pitchFamily="18" charset="0"/>
                <a:cs typeface="Times New Roman" panose="02020603050405020304" pitchFamily="18" charset="0"/>
              </a:rPr>
              <a:t> Demonstrates application of machine learning in real-world problems, involving full-stack web development and modern software engineering practices.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18"/>
            <a:ext cx="8229600" cy="1143000"/>
          </a:xfrm>
        </p:spPr>
        <p:txBody>
          <a:bodyPr/>
          <a:lstStyle/>
          <a:p>
            <a:pPr>
              <a:defRPr sz="4400" b="1">
                <a:solidFill>
                  <a:srgbClr val="1E40AF"/>
                </a:solidFill>
                <a:latin typeface="Calibri"/>
              </a:defRPr>
            </a:pPr>
            <a:r>
              <a:rPr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457200" y="1166018"/>
            <a:ext cx="8498264" cy="4525963"/>
          </a:xfrm>
        </p:spPr>
        <p:txBody>
          <a:bodyPr wrap="square">
            <a:noAutofit/>
          </a:bodyPr>
          <a:lstStyle/>
          <a:p>
            <a:pPr marL="0" indent="0">
              <a:spcAft>
                <a:spcPts val="1200"/>
              </a:spcAft>
              <a:buNone/>
            </a:pPr>
            <a:r>
              <a:rPr sz="2200" b="1" dirty="0">
                <a:latin typeface="Times New Roman" panose="02020603050405020304" pitchFamily="18" charset="0"/>
                <a:cs typeface="Times New Roman" panose="02020603050405020304" pitchFamily="18" charset="0"/>
              </a:rPr>
              <a:t>Problem Statement</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Late-stage disease detection: </a:t>
            </a:r>
            <a:r>
              <a:rPr lang="en-US" sz="2000" dirty="0">
                <a:latin typeface="Times New Roman" panose="02020603050405020304" pitchFamily="18" charset="0"/>
                <a:cs typeface="Times New Roman" panose="02020603050405020304" pitchFamily="18" charset="0"/>
              </a:rPr>
              <a:t>422M diabetes cases, 17.9M heart disease</a:t>
            </a:r>
          </a:p>
          <a:p>
            <a:pPr marL="0" indent="0">
              <a:buNone/>
            </a:pPr>
            <a:r>
              <a:rPr lang="en-US" sz="2000" dirty="0">
                <a:latin typeface="Times New Roman" panose="02020603050405020304" pitchFamily="18" charset="0"/>
                <a:cs typeface="Times New Roman" panose="02020603050405020304" pitchFamily="18" charset="0"/>
              </a:rPr>
              <a:t>  deaths annually</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Limited healthcare access:</a:t>
            </a:r>
            <a:r>
              <a:rPr lang="en-US" sz="2000" dirty="0">
                <a:latin typeface="Times New Roman" panose="02020603050405020304" pitchFamily="18" charset="0"/>
                <a:cs typeface="Times New Roman" panose="02020603050405020304" pitchFamily="18" charset="0"/>
              </a:rPr>
              <a:t> Rural areas have few doctors, and medical treatment is expensive.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No personalized guidance:</a:t>
            </a:r>
            <a:r>
              <a:rPr lang="en-US" sz="2000" dirty="0">
                <a:latin typeface="Times New Roman" panose="02020603050405020304" pitchFamily="18" charset="0"/>
                <a:cs typeface="Times New Roman" panose="02020603050405020304" pitchFamily="18" charset="0"/>
              </a:rPr>
              <a:t> Health advice is general and not suitable for each person.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High healthcare costs:</a:t>
            </a:r>
            <a:r>
              <a:rPr lang="en-US" sz="2000" dirty="0">
                <a:latin typeface="Times New Roman" panose="02020603050405020304" pitchFamily="18" charset="0"/>
                <a:cs typeface="Times New Roman" panose="02020603050405020304" pitchFamily="18" charset="0"/>
              </a:rPr>
              <a:t> Regular checkups and doctor consulting are too costly.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Slow diagnosis:</a:t>
            </a:r>
            <a:r>
              <a:rPr lang="en-US" sz="2000" dirty="0">
                <a:latin typeface="Times New Roman" panose="02020603050405020304" pitchFamily="18" charset="0"/>
                <a:cs typeface="Times New Roman" panose="02020603050405020304" pitchFamily="18" charset="0"/>
              </a:rPr>
              <a:t> Hospitals are crowded, so patients wait a long time for treatment.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Low health awareness:</a:t>
            </a:r>
            <a:r>
              <a:rPr lang="en-US" sz="2000" dirty="0">
                <a:latin typeface="Times New Roman" panose="02020603050405020304" pitchFamily="18" charset="0"/>
                <a:cs typeface="Times New Roman" panose="02020603050405020304" pitchFamily="18" charset="0"/>
              </a:rPr>
              <a:t> People do not know early signs or ways to prevent diseases.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C53388-3CF8-97E6-F029-6F08E4ACCAA9}"/>
              </a:ext>
            </a:extLst>
          </p:cNvPr>
          <p:cNvPicPr>
            <a:picLocks noGrp="1" noChangeAspect="1"/>
          </p:cNvPicPr>
          <p:nvPr>
            <p:ph idx="1"/>
          </p:nvPr>
        </p:nvPicPr>
        <p:blipFill>
          <a:blip r:embed="rId2"/>
          <a:srcRect b="9124"/>
          <a:stretch>
            <a:fillRect/>
          </a:stretch>
        </p:blipFill>
        <p:spPr>
          <a:xfrm>
            <a:off x="922412" y="929578"/>
            <a:ext cx="2770995" cy="3561394"/>
          </a:xfrm>
          <a:prstGeom prst="rect">
            <a:avLst/>
          </a:prstGeom>
          <a:ln>
            <a:noFill/>
          </a:ln>
          <a:effectLst>
            <a:outerShdw blurRad="292100" dist="139700" dir="2700000" algn="tl" rotWithShape="0">
              <a:srgbClr val="333333">
                <a:alpha val="65000"/>
              </a:srgbClr>
            </a:outerShdw>
          </a:effectLst>
        </p:spPr>
      </p:pic>
      <p:pic>
        <p:nvPicPr>
          <p:cNvPr id="1028" name="Picture 4" descr="Cardiovascular Diseases - the number 1 cause of death globally">
            <a:extLst>
              <a:ext uri="{FF2B5EF4-FFF2-40B4-BE49-F238E27FC236}">
                <a16:creationId xmlns:a16="http://schemas.microsoft.com/office/drawing/2014/main" id="{A262906A-5902-DFDC-ED64-6487F524BA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49" b="8591"/>
          <a:stretch>
            <a:fillRect/>
          </a:stretch>
        </p:blipFill>
        <p:spPr bwMode="auto">
          <a:xfrm>
            <a:off x="4807670" y="929578"/>
            <a:ext cx="3106077" cy="35613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3DDB6C2-93EB-6FEC-6A86-E7DEB695F387}"/>
              </a:ext>
            </a:extLst>
          </p:cNvPr>
          <p:cNvSpPr txBox="1"/>
          <p:nvPr/>
        </p:nvSpPr>
        <p:spPr>
          <a:xfrm>
            <a:off x="583866" y="320511"/>
            <a:ext cx="658993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Worldwide number of people affected by each disease</a:t>
            </a:r>
          </a:p>
        </p:txBody>
      </p:sp>
      <p:pic>
        <p:nvPicPr>
          <p:cNvPr id="1032" name="Picture 8" descr="Epidemiology of chronic kidney disease: an update 2022 - ScienceDirect">
            <a:extLst>
              <a:ext uri="{FF2B5EF4-FFF2-40B4-BE49-F238E27FC236}">
                <a16:creationId xmlns:a16="http://schemas.microsoft.com/office/drawing/2014/main" id="{E5F3593A-605E-7382-4CB7-661ED40B8A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7403"/>
          <a:stretch>
            <a:fillRect/>
          </a:stretch>
        </p:blipFill>
        <p:spPr bwMode="auto">
          <a:xfrm>
            <a:off x="2460397" y="4670723"/>
            <a:ext cx="4011638" cy="18667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66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5E3C60-9393-7686-23B6-D5A9A1369A90}"/>
              </a:ext>
            </a:extLst>
          </p:cNvPr>
          <p:cNvSpPr>
            <a:spLocks noGrp="1"/>
          </p:cNvSpPr>
          <p:nvPr>
            <p:ph idx="1"/>
          </p:nvPr>
        </p:nvSpPr>
        <p:spPr>
          <a:xfrm>
            <a:off x="457200" y="637033"/>
            <a:ext cx="8229600" cy="3350505"/>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Key Issues Faced Existing systems</a:t>
            </a:r>
          </a:p>
          <a:p>
            <a:r>
              <a:rPr lang="en-US" sz="2000" dirty="0">
                <a:latin typeface="Times New Roman" panose="02020603050405020304" pitchFamily="18" charset="0"/>
                <a:cs typeface="Times New Roman" panose="02020603050405020304" pitchFamily="18" charset="0"/>
              </a:rPr>
              <a:t>Expensive (premium subscriptions $10-50/month)</a:t>
            </a:r>
          </a:p>
          <a:p>
            <a:r>
              <a:rPr lang="en-US" sz="2000" dirty="0">
                <a:latin typeface="Times New Roman" panose="02020603050405020304" pitchFamily="18" charset="0"/>
                <a:cs typeface="Times New Roman" panose="02020603050405020304" pitchFamily="18" charset="0"/>
              </a:rPr>
              <a:t>Poor user interfaces</a:t>
            </a:r>
          </a:p>
          <a:p>
            <a:r>
              <a:rPr lang="en-US" sz="2000" dirty="0">
                <a:latin typeface="Times New Roman" panose="02020603050405020304" pitchFamily="18" charset="0"/>
                <a:cs typeface="Times New Roman" panose="02020603050405020304" pitchFamily="18" charset="0"/>
              </a:rPr>
              <a:t>Limited to single disease prediction</a:t>
            </a:r>
          </a:p>
          <a:p>
            <a:r>
              <a:rPr lang="en-US" sz="2000" dirty="0">
                <a:latin typeface="Times New Roman" panose="02020603050405020304" pitchFamily="18" charset="0"/>
                <a:cs typeface="Times New Roman" panose="02020603050405020304" pitchFamily="18" charset="0"/>
              </a:rPr>
              <a:t>No personalized recommendations with lifestyle guidance</a:t>
            </a:r>
          </a:p>
          <a:p>
            <a:r>
              <a:rPr lang="en-US" sz="2000" dirty="0">
                <a:latin typeface="Times New Roman" panose="02020603050405020304" pitchFamily="18" charset="0"/>
                <a:cs typeface="Times New Roman" panose="02020603050405020304" pitchFamily="18" charset="0"/>
              </a:rPr>
              <a:t>No multi-language support (translation feature missing)</a:t>
            </a:r>
          </a:p>
          <a:p>
            <a:r>
              <a:rPr lang="en-US" sz="2000" dirty="0">
                <a:latin typeface="Times New Roman" panose="02020603050405020304" pitchFamily="18" charset="0"/>
                <a:cs typeface="Times New Roman" panose="02020603050405020304" pitchFamily="18" charset="0"/>
              </a:rPr>
              <a:t>No real-time alert system for critical health risks</a:t>
            </a:r>
          </a:p>
          <a:p>
            <a:r>
              <a:rPr lang="en-US" sz="2000" dirty="0">
                <a:latin typeface="Times New Roman" panose="02020603050405020304" pitchFamily="18" charset="0"/>
                <a:cs typeface="Times New Roman" panose="02020603050405020304" pitchFamily="18" charset="0"/>
              </a:rPr>
              <a:t>Machine learning algorithms not clearly specified or optimized per disease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Importance</a:t>
            </a:r>
          </a:p>
          <a:p>
            <a:pPr marL="0" indent="0" algn="just">
              <a:buNone/>
            </a:pPr>
            <a:r>
              <a:rPr lang="en-US" sz="2000" dirty="0">
                <a:latin typeface="Times New Roman" panose="02020603050405020304" pitchFamily="18" charset="0"/>
                <a:cs typeface="Times New Roman" panose="02020603050405020304" pitchFamily="18" charset="0"/>
              </a:rPr>
              <a:t>Early detection can prevent 71% of deaths from non-communicable diseases,</a:t>
            </a:r>
          </a:p>
          <a:p>
            <a:pPr marL="0" indent="0" algn="just">
              <a:buNone/>
            </a:pPr>
            <a:r>
              <a:rPr lang="en-US" sz="2000" dirty="0">
                <a:latin typeface="Times New Roman" panose="02020603050405020304" pitchFamily="18" charset="0"/>
                <a:cs typeface="Times New Roman" panose="02020603050405020304" pitchFamily="18" charset="0"/>
              </a:rPr>
              <a:t>reduces healthcare costs, and improves patient outcomes. Multi-language</a:t>
            </a:r>
          </a:p>
          <a:p>
            <a:pPr marL="0" indent="0" algn="just">
              <a:buNone/>
            </a:pPr>
            <a:r>
              <a:rPr lang="en-US" sz="2000" dirty="0">
                <a:latin typeface="Times New Roman" panose="02020603050405020304" pitchFamily="18" charset="0"/>
                <a:cs typeface="Times New Roman" panose="02020603050405020304" pitchFamily="18" charset="0"/>
              </a:rPr>
              <a:t>support enables access for diverse populations, real-time alerts enable</a:t>
            </a:r>
          </a:p>
          <a:p>
            <a:pPr marL="0" indent="0" algn="just">
              <a:buNone/>
            </a:pPr>
            <a:r>
              <a:rPr lang="en-US" sz="2000" dirty="0">
                <a:latin typeface="Times New Roman" panose="02020603050405020304" pitchFamily="18" charset="0"/>
                <a:cs typeface="Times New Roman" panose="02020603050405020304" pitchFamily="18" charset="0"/>
              </a:rPr>
              <a:t>timely intervention, Comprehensive recommendations improve patient adherence and outcomes.</a:t>
            </a:r>
          </a:p>
        </p:txBody>
      </p:sp>
    </p:spTree>
    <p:extLst>
      <p:ext uri="{BB962C8B-B14F-4D97-AF65-F5344CB8AC3E}">
        <p14:creationId xmlns:p14="http://schemas.microsoft.com/office/powerpoint/2010/main" val="4061153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544" y="-272796"/>
            <a:ext cx="8229600" cy="1143000"/>
          </a:xfrm>
        </p:spPr>
        <p:txBody>
          <a:bodyPr>
            <a:normAutofit/>
          </a:bodyPr>
          <a:lstStyle/>
          <a:p>
            <a:pPr>
              <a:defRPr sz="4400" b="1">
                <a:solidFill>
                  <a:srgbClr val="1E40AF"/>
                </a:solidFill>
                <a:latin typeface="Calibri"/>
              </a:defRPr>
            </a:pPr>
            <a:r>
              <a:rPr sz="3600"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57200" y="587088"/>
            <a:ext cx="8229600" cy="4525963"/>
          </a:xfrm>
        </p:spPr>
        <p:txBody>
          <a:bodyPr wrap="square">
            <a:noAutofit/>
          </a:bodyPr>
          <a:lstStyle/>
          <a:p>
            <a:pPr marL="0" indent="0">
              <a:spcAft>
                <a:spcPts val="1200"/>
              </a:spcAft>
              <a:buNone/>
            </a:pPr>
            <a:r>
              <a:rPr lang="en-US" sz="1800" dirty="0">
                <a:latin typeface="Times New Roman" panose="02020603050405020304" pitchFamily="18" charset="0"/>
                <a:cs typeface="Times New Roman" panose="02020603050405020304" pitchFamily="18" charset="0"/>
              </a:rPr>
              <a:t>Main Objective To design and develop an AI-powered web-based healthcare system for real-time multi-disease prediction, risk assessment, and personalized health recommendations. </a:t>
            </a:r>
            <a:endParaRPr lang="en-US" sz="1800" b="1" dirty="0">
              <a:latin typeface="Times New Roman" panose="02020603050405020304" pitchFamily="18" charset="0"/>
              <a:cs typeface="Times New Roman" panose="02020603050405020304" pitchFamily="18" charset="0"/>
            </a:endParaRPr>
          </a:p>
          <a:p>
            <a:pPr marL="0" indent="0">
              <a:spcAft>
                <a:spcPts val="1200"/>
              </a:spcAft>
              <a:buNone/>
            </a:pPr>
            <a:r>
              <a:rPr sz="1800" b="1" dirty="0">
                <a:latin typeface="Times New Roman" panose="02020603050405020304" pitchFamily="18" charset="0"/>
                <a:cs typeface="Times New Roman" panose="02020603050405020304" pitchFamily="18" charset="0"/>
              </a:rPr>
              <a:t>Sub-Objectives</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Research existing AI-based healthcare systems to identify functional and non-functional requirements.</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Collect and preprocess healthcare datasets for multi-disease prediction and risk assessment.</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Train and validate machine learning models to ensure high prediction accuracy.</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Design the system architecture, database schema, and user-friendly UI/UX plan.</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Develop the frontend using Next.js and backend using Python FastAPI with ML model integration.</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Implement multi-disease prediction, health risk assessment, and personalized recommendations.</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Add translation functionality to support multi-language accessibility.</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Integrate a real-time alert system to notify users about high-risk conditions.</a:t>
            </a:r>
          </a:p>
          <a:p>
            <a:pPr>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Test and evaluate the system for accuracy, usability, performance, and security.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1017"/>
            <a:ext cx="8229600" cy="1143000"/>
          </a:xfrm>
        </p:spPr>
        <p:txBody>
          <a:bodyPr>
            <a:normAutofit/>
          </a:bodyPr>
          <a:lstStyle/>
          <a:p>
            <a:pPr>
              <a:defRPr sz="4400" b="1">
                <a:solidFill>
                  <a:srgbClr val="1E40AF"/>
                </a:solidFill>
                <a:latin typeface="Calibri"/>
              </a:defRPr>
            </a:pPr>
            <a:r>
              <a:rPr sz="3600" dirty="0">
                <a:latin typeface="Times New Roman" panose="02020603050405020304" pitchFamily="18" charset="0"/>
                <a:cs typeface="Times New Roman" panose="02020603050405020304" pitchFamily="18" charset="0"/>
              </a:rPr>
              <a:t>Proposed Solution / System Overview</a:t>
            </a:r>
          </a:p>
        </p:txBody>
      </p:sp>
      <p:sp>
        <p:nvSpPr>
          <p:cNvPr id="3" name="Content Placeholder 2"/>
          <p:cNvSpPr>
            <a:spLocks noGrp="1"/>
          </p:cNvSpPr>
          <p:nvPr>
            <p:ph idx="1"/>
          </p:nvPr>
        </p:nvSpPr>
        <p:spPr>
          <a:xfrm>
            <a:off x="457200" y="1047248"/>
            <a:ext cx="8229600" cy="5165724"/>
          </a:xfrm>
        </p:spPr>
        <p:txBody>
          <a:bodyPr wrap="square">
            <a:normAutofit fontScale="25000" lnSpcReduction="20000"/>
          </a:bodyPr>
          <a:lstStyle/>
          <a:p>
            <a:pPr marL="0" indent="0">
              <a:buNone/>
            </a:pPr>
            <a:r>
              <a:rPr lang="en-US" sz="8000" b="1" dirty="0">
                <a:latin typeface="Times New Roman" panose="02020603050405020304" pitchFamily="18" charset="0"/>
                <a:cs typeface="Times New Roman" panose="02020603050405020304" pitchFamily="18" charset="0"/>
              </a:rPr>
              <a:t>Overview of the Proposed Software/System</a:t>
            </a:r>
          </a:p>
          <a:p>
            <a:pPr marL="0" indent="0">
              <a:buNone/>
            </a:pPr>
            <a:r>
              <a:rPr lang="en-US" sz="8000" dirty="0">
                <a:latin typeface="Times New Roman" panose="02020603050405020304" pitchFamily="18" charset="0"/>
                <a:cs typeface="Times New Roman" panose="02020603050405020304" pitchFamily="18" charset="0"/>
              </a:rPr>
              <a:t>The proposed solution is a web-based AI healthcare system designed using a three-tier architecture. It combines a Next.js frontend, FastAPI (Python) backend, and MongoDB database with integrated machine learning models for real-time multi-disease prediction and personalized health management.</a:t>
            </a:r>
          </a:p>
          <a:p>
            <a:pPr marL="0" indent="0" algn="just">
              <a:buNone/>
            </a:pPr>
            <a:endParaRPr lang="en-US" sz="5500" dirty="0">
              <a:latin typeface="Times New Roman" panose="02020603050405020304" pitchFamily="18" charset="0"/>
              <a:cs typeface="Times New Roman" panose="02020603050405020304" pitchFamily="18" charset="0"/>
            </a:endParaRPr>
          </a:p>
          <a:p>
            <a:pPr marL="0" indent="0" algn="just">
              <a:buNone/>
            </a:pPr>
            <a:r>
              <a:rPr lang="en-US" sz="7200" b="1" dirty="0">
                <a:latin typeface="Times New Roman" panose="02020603050405020304" pitchFamily="18" charset="0"/>
                <a:cs typeface="Times New Roman" panose="02020603050405020304" pitchFamily="18" charset="0"/>
              </a:rPr>
              <a:t>Key Functionalities</a:t>
            </a:r>
          </a:p>
          <a:p>
            <a:pPr marL="0" indent="0">
              <a:buNone/>
            </a:pPr>
            <a:r>
              <a:rPr lang="en-US" sz="7200" dirty="0">
                <a:latin typeface="Times New Roman" panose="02020603050405020304" pitchFamily="18" charset="0"/>
                <a:cs typeface="Times New Roman" panose="02020603050405020304" pitchFamily="18" charset="0"/>
              </a:rPr>
              <a:t>• Multi-disease prediction (Diabetes, Heart Disease, Kidney Disease)</a:t>
            </a:r>
          </a:p>
          <a:p>
            <a:pPr marL="0" indent="0">
              <a:buNone/>
            </a:pPr>
            <a:r>
              <a:rPr lang="en-US" sz="7200" dirty="0">
                <a:latin typeface="Times New Roman" panose="02020603050405020304" pitchFamily="18" charset="0"/>
                <a:cs typeface="Times New Roman" panose="02020603050405020304" pitchFamily="18" charset="0"/>
              </a:rPr>
              <a:t>• Machine learning algorithms optimized per disease:</a:t>
            </a:r>
          </a:p>
          <a:p>
            <a:pPr marL="0" indent="0">
              <a:buNone/>
            </a:pPr>
            <a:r>
              <a:rPr lang="en-US" sz="7200" dirty="0">
                <a:latin typeface="Times New Roman" panose="02020603050405020304" pitchFamily="18" charset="0"/>
                <a:cs typeface="Times New Roman" panose="02020603050405020304" pitchFamily="18" charset="0"/>
              </a:rPr>
              <a:t>  	- Diabetes: Random Forest Classifier</a:t>
            </a:r>
          </a:p>
          <a:p>
            <a:pPr marL="0" indent="0">
              <a:buNone/>
            </a:pPr>
            <a:r>
              <a:rPr lang="en-US" sz="7200" dirty="0">
                <a:latin typeface="Times New Roman" panose="02020603050405020304" pitchFamily="18" charset="0"/>
                <a:cs typeface="Times New Roman" panose="02020603050405020304" pitchFamily="18" charset="0"/>
              </a:rPr>
              <a:t>  	- Heart Disease: Logistic Regression</a:t>
            </a:r>
          </a:p>
          <a:p>
            <a:pPr marL="0" indent="0">
              <a:buNone/>
            </a:pPr>
            <a:r>
              <a:rPr lang="en-US" sz="7200" dirty="0">
                <a:latin typeface="Times New Roman" panose="02020603050405020304" pitchFamily="18" charset="0"/>
                <a:cs typeface="Times New Roman" panose="02020603050405020304" pitchFamily="18" charset="0"/>
              </a:rPr>
              <a:t>  	- Kidney Disease: Support Vector Machine (SVM) with RBF kernel</a:t>
            </a:r>
          </a:p>
          <a:p>
            <a:pPr marL="0" indent="0">
              <a:buNone/>
            </a:pPr>
            <a:r>
              <a:rPr lang="en-US" sz="7200" dirty="0">
                <a:latin typeface="Times New Roman" panose="02020603050405020304" pitchFamily="18" charset="0"/>
                <a:cs typeface="Times New Roman" panose="02020603050405020304" pitchFamily="18" charset="0"/>
              </a:rPr>
              <a:t>• Risk assessment (Low, Medium, High, Critical) with detailed recommendations</a:t>
            </a:r>
          </a:p>
          <a:p>
            <a:pPr marL="0" indent="0">
              <a:buNone/>
            </a:pPr>
            <a:r>
              <a:rPr lang="en-US" sz="7200" dirty="0">
                <a:latin typeface="Times New Roman" panose="02020603050405020304" pitchFamily="18" charset="0"/>
                <a:cs typeface="Times New Roman" panose="02020603050405020304" pitchFamily="18" charset="0"/>
              </a:rPr>
              <a:t>• Personalized health recommendations including:</a:t>
            </a:r>
          </a:p>
          <a:p>
            <a:pPr marL="0" indent="0">
              <a:buNone/>
            </a:pPr>
            <a:r>
              <a:rPr lang="en-US" sz="7200" dirty="0">
                <a:latin typeface="Times New Roman" panose="02020603050405020304" pitchFamily="18" charset="0"/>
                <a:cs typeface="Times New Roman" panose="02020603050405020304" pitchFamily="18" charset="0"/>
              </a:rPr>
              <a:t>  	- Life cycle management routines</a:t>
            </a:r>
          </a:p>
          <a:p>
            <a:pPr marL="0" indent="0">
              <a:buNone/>
            </a:pPr>
            <a:r>
              <a:rPr lang="en-US" sz="7200" dirty="0">
                <a:latin typeface="Times New Roman" panose="02020603050405020304" pitchFamily="18" charset="0"/>
                <a:cs typeface="Times New Roman" panose="02020603050405020304" pitchFamily="18" charset="0"/>
              </a:rPr>
              <a:t>  	- Customized food recommendations</a:t>
            </a:r>
          </a:p>
          <a:p>
            <a:pPr marL="0" indent="0">
              <a:buNone/>
            </a:pPr>
            <a:r>
              <a:rPr lang="en-US" sz="7200" dirty="0">
                <a:latin typeface="Times New Roman" panose="02020603050405020304" pitchFamily="18" charset="0"/>
                <a:cs typeface="Times New Roman" panose="02020603050405020304" pitchFamily="18" charset="0"/>
              </a:rPr>
              <a:t>  	- Exercise and physical activity plans</a:t>
            </a:r>
          </a:p>
          <a:p>
            <a:pPr marL="0" indent="0">
              <a:buNone/>
            </a:pPr>
            <a:r>
              <a:rPr lang="en-US" sz="7200" dirty="0">
                <a:latin typeface="Times New Roman" panose="02020603050405020304" pitchFamily="18" charset="0"/>
                <a:cs typeface="Times New Roman" panose="02020603050405020304" pitchFamily="18" charset="0"/>
              </a:rPr>
              <a:t>• Role-based access control (Patients, Doctors, Administrators) </a:t>
            </a:r>
          </a:p>
          <a:p>
            <a:pPr marL="0" indent="0">
              <a:buNone/>
            </a:pPr>
            <a:r>
              <a:rPr lang="en-US" sz="7200" dirty="0">
                <a:latin typeface="Times New Roman" panose="02020603050405020304" pitchFamily="18" charset="0"/>
                <a:cs typeface="Times New Roman" panose="02020603050405020304" pitchFamily="18" charset="0"/>
              </a:rPr>
              <a:t>• Prediction history tracking</a:t>
            </a:r>
          </a:p>
          <a:p>
            <a:pPr marL="0" indent="0">
              <a:buNone/>
            </a:pPr>
            <a:r>
              <a:rPr lang="en-US" sz="7200" dirty="0">
                <a:latin typeface="Times New Roman" panose="02020603050405020304" pitchFamily="18" charset="0"/>
                <a:cs typeface="Times New Roman" panose="02020603050405020304" pitchFamily="18" charset="0"/>
              </a:rPr>
              <a:t>• Multi-language translation support (Google Translate API integration)</a:t>
            </a:r>
          </a:p>
          <a:p>
            <a:pPr marL="0" indent="0">
              <a:buNone/>
            </a:pPr>
            <a:r>
              <a:rPr lang="en-US" sz="7200" dirty="0">
                <a:latin typeface="Times New Roman" panose="02020603050405020304" pitchFamily="18" charset="0"/>
                <a:cs typeface="Times New Roman" panose="02020603050405020304" pitchFamily="18" charset="0"/>
              </a:rPr>
              <a:t>• Real-time alerts for high-risk predictions via WebSocket</a:t>
            </a:r>
          </a:p>
          <a:p>
            <a:pPr marL="0" indent="0" algn="just">
              <a:buNone/>
            </a:pPr>
            <a:endParaRPr lang="en-US" sz="5500" dirty="0">
              <a:latin typeface="Times New Roman" panose="02020603050405020304" pitchFamily="18" charset="0"/>
              <a:cs typeface="Times New Roman" panose="02020603050405020304" pitchFamily="18" charset="0"/>
            </a:endParaRPr>
          </a:p>
          <a:p>
            <a:pPr marL="0" indent="0">
              <a:spcAft>
                <a:spcPts val="12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75BA8C0-5860-46CC-838A-18E536222907}"/>
              </a:ext>
            </a:extLst>
          </p:cNvPr>
          <p:cNvGraphicFramePr>
            <a:graphicFrameLocks noGrp="1"/>
          </p:cNvGraphicFramePr>
          <p:nvPr>
            <p:ph idx="1"/>
            <p:extLst>
              <p:ext uri="{D42A27DB-BD31-4B8C-83A1-F6EECF244321}">
                <p14:modId xmlns:p14="http://schemas.microsoft.com/office/powerpoint/2010/main" val="2306479995"/>
              </p:ext>
            </p:extLst>
          </p:nvPr>
        </p:nvGraphicFramePr>
        <p:xfrm>
          <a:off x="367645" y="458887"/>
          <a:ext cx="8323868" cy="6344534"/>
        </p:xfrm>
        <a:graphic>
          <a:graphicData uri="http://schemas.openxmlformats.org/drawingml/2006/table">
            <a:tbl>
              <a:tblPr>
                <a:tableStyleId>{93296810-A885-4BE3-A3E7-6D5BEEA58F35}</a:tableStyleId>
              </a:tblPr>
              <a:tblGrid>
                <a:gridCol w="2080967">
                  <a:extLst>
                    <a:ext uri="{9D8B030D-6E8A-4147-A177-3AD203B41FA5}">
                      <a16:colId xmlns:a16="http://schemas.microsoft.com/office/drawing/2014/main" val="666938833"/>
                    </a:ext>
                  </a:extLst>
                </a:gridCol>
                <a:gridCol w="2080967">
                  <a:extLst>
                    <a:ext uri="{9D8B030D-6E8A-4147-A177-3AD203B41FA5}">
                      <a16:colId xmlns:a16="http://schemas.microsoft.com/office/drawing/2014/main" val="2855916257"/>
                    </a:ext>
                  </a:extLst>
                </a:gridCol>
                <a:gridCol w="2080967">
                  <a:extLst>
                    <a:ext uri="{9D8B030D-6E8A-4147-A177-3AD203B41FA5}">
                      <a16:colId xmlns:a16="http://schemas.microsoft.com/office/drawing/2014/main" val="2120837124"/>
                    </a:ext>
                  </a:extLst>
                </a:gridCol>
                <a:gridCol w="2080967">
                  <a:extLst>
                    <a:ext uri="{9D8B030D-6E8A-4147-A177-3AD203B41FA5}">
                      <a16:colId xmlns:a16="http://schemas.microsoft.com/office/drawing/2014/main" val="157836509"/>
                    </a:ext>
                  </a:extLst>
                </a:gridCol>
              </a:tblGrid>
              <a:tr h="198250">
                <a:tc>
                  <a:txBody>
                    <a:bodyPr/>
                    <a:lstStyle/>
                    <a:p>
                      <a:pPr>
                        <a:buNone/>
                      </a:pPr>
                      <a:r>
                        <a:rPr lang="en-US" sz="1200" b="1">
                          <a:latin typeface="Times New Roman" panose="02020603050405020304" pitchFamily="18" charset="0"/>
                          <a:cs typeface="Times New Roman" panose="02020603050405020304" pitchFamily="18" charset="0"/>
                        </a:rPr>
                        <a:t>Feature Category</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b="1" dirty="0">
                          <a:latin typeface="Times New Roman" panose="02020603050405020304" pitchFamily="18" charset="0"/>
                          <a:cs typeface="Times New Roman" panose="02020603050405020304" pitchFamily="18" charset="0"/>
                        </a:rPr>
                        <a:t>Patient </a:t>
                      </a:r>
                      <a:endParaRPr lang="ta-IN" sz="1200" dirty="0">
                        <a:latin typeface="Times New Roman" panose="02020603050405020304" pitchFamily="18" charset="0"/>
                      </a:endParaRPr>
                    </a:p>
                  </a:txBody>
                  <a:tcPr marL="29200" marR="29200" marT="14600" marB="14600" anchor="ctr"/>
                </a:tc>
                <a:tc>
                  <a:txBody>
                    <a:bodyPr/>
                    <a:lstStyle/>
                    <a:p>
                      <a:pPr>
                        <a:buNone/>
                      </a:pPr>
                      <a:r>
                        <a:rPr lang="en-US" sz="1200" b="1" dirty="0">
                          <a:latin typeface="Times New Roman" panose="02020603050405020304" pitchFamily="18" charset="0"/>
                          <a:cs typeface="Times New Roman" panose="02020603050405020304" pitchFamily="18" charset="0"/>
                        </a:rPr>
                        <a:t>Doctor </a:t>
                      </a:r>
                      <a:endParaRPr lang="ta-IN" sz="1200" dirty="0">
                        <a:latin typeface="Times New Roman" panose="02020603050405020304" pitchFamily="18" charset="0"/>
                      </a:endParaRPr>
                    </a:p>
                  </a:txBody>
                  <a:tcPr marL="29200" marR="29200" marT="14600" marB="14600" anchor="ctr"/>
                </a:tc>
                <a:tc>
                  <a:txBody>
                    <a:bodyPr/>
                    <a:lstStyle/>
                    <a:p>
                      <a:pPr>
                        <a:buNone/>
                      </a:pPr>
                      <a:r>
                        <a:rPr lang="en-US" sz="1200" b="1" dirty="0">
                          <a:latin typeface="Times New Roman" panose="02020603050405020304" pitchFamily="18" charset="0"/>
                          <a:cs typeface="Times New Roman" panose="02020603050405020304" pitchFamily="18" charset="0"/>
                        </a:rPr>
                        <a:t>Admin </a:t>
                      </a:r>
                      <a:endParaRPr lang="ta-IN" sz="1200" dirty="0">
                        <a:latin typeface="Times New Roman" panose="02020603050405020304" pitchFamily="18" charset="0"/>
                      </a:endParaRPr>
                    </a:p>
                  </a:txBody>
                  <a:tcPr marL="29200" marR="29200" marT="14600" marB="14600" anchor="ctr"/>
                </a:tc>
                <a:extLst>
                  <a:ext uri="{0D108BD9-81ED-4DB2-BD59-A6C34878D82A}">
                    <a16:rowId xmlns:a16="http://schemas.microsoft.com/office/drawing/2014/main" val="1334686211"/>
                  </a:ext>
                </a:extLst>
              </a:tr>
              <a:tr h="540159">
                <a:tc>
                  <a:txBody>
                    <a:bodyPr/>
                    <a:lstStyle/>
                    <a:p>
                      <a:pPr>
                        <a:buNone/>
                      </a:pPr>
                      <a:r>
                        <a:rPr lang="en-US" sz="1200" b="1" dirty="0">
                          <a:latin typeface="Times New Roman" panose="02020603050405020304" pitchFamily="18" charset="0"/>
                          <a:cs typeface="Times New Roman" panose="02020603050405020304" pitchFamily="18" charset="0"/>
                        </a:rPr>
                        <a:t>Main Function</a:t>
                      </a:r>
                      <a:endParaRPr lang="en-US" sz="1200" dirty="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Disease prediction, health monitoring, and personal management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Patient supervision, prediction analysis, and medical review</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System control, user management, and analytics</a:t>
                      </a:r>
                    </a:p>
                  </a:txBody>
                  <a:tcPr marL="29200" marR="29200" marT="14600" marB="14600" anchor="ctr"/>
                </a:tc>
                <a:extLst>
                  <a:ext uri="{0D108BD9-81ED-4DB2-BD59-A6C34878D82A}">
                    <a16:rowId xmlns:a16="http://schemas.microsoft.com/office/drawing/2014/main" val="1337016949"/>
                  </a:ext>
                </a:extLst>
              </a:tr>
              <a:tr h="822917">
                <a:tc>
                  <a:txBody>
                    <a:bodyPr/>
                    <a:lstStyle/>
                    <a:p>
                      <a:pPr>
                        <a:buNone/>
                      </a:pPr>
                      <a:r>
                        <a:rPr lang="en-US" sz="1200" b="1">
                          <a:latin typeface="Times New Roman" panose="02020603050405020304" pitchFamily="18" charset="0"/>
                          <a:cs typeface="Times New Roman" panose="02020603050405020304" pitchFamily="18" charset="0"/>
                        </a:rPr>
                        <a:t>Disease Predictions</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Diabetes Risk Prediction</a:t>
                      </a:r>
                    </a:p>
                    <a:p>
                      <a:pPr>
                        <a:buNone/>
                      </a:pPr>
                      <a:r>
                        <a:rPr lang="en-US" sz="1200" dirty="0">
                          <a:latin typeface="Times New Roman" panose="02020603050405020304" pitchFamily="18" charset="0"/>
                          <a:cs typeface="Times New Roman" panose="02020603050405020304" pitchFamily="18" charset="0"/>
                        </a:rPr>
                        <a:t>• Heart Disease Risk Prediction</a:t>
                      </a:r>
                    </a:p>
                    <a:p>
                      <a:pPr>
                        <a:buNone/>
                      </a:pPr>
                      <a:r>
                        <a:rPr lang="en-US" sz="1200" dirty="0">
                          <a:latin typeface="Times New Roman" panose="02020603050405020304" pitchFamily="18" charset="0"/>
                          <a:cs typeface="Times New Roman" panose="02020603050405020304" pitchFamily="18" charset="0"/>
                        </a:rPr>
                        <a:t>• Kidney Disease Risk Prediction</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Review patient predictions</a:t>
                      </a:r>
                    </a:p>
                    <a:p>
                      <a:pPr>
                        <a:buNone/>
                      </a:pPr>
                      <a:r>
                        <a:rPr lang="en-US" sz="1200" dirty="0">
                          <a:latin typeface="Times New Roman" panose="02020603050405020304" pitchFamily="18" charset="0"/>
                          <a:cs typeface="Times New Roman" panose="02020603050405020304" pitchFamily="18" charset="0"/>
                        </a:rPr>
                        <a:t>• Analyze disease risk levels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Monitor prediction statistics</a:t>
                      </a:r>
                    </a:p>
                  </a:txBody>
                  <a:tcPr marL="29200" marR="29200" marT="14600" marB="14600" anchor="ctr"/>
                </a:tc>
                <a:extLst>
                  <a:ext uri="{0D108BD9-81ED-4DB2-BD59-A6C34878D82A}">
                    <a16:rowId xmlns:a16="http://schemas.microsoft.com/office/drawing/2014/main" val="2681632327"/>
                  </a:ext>
                </a:extLst>
              </a:tr>
              <a:tr h="711113">
                <a:tc>
                  <a:txBody>
                    <a:bodyPr/>
                    <a:lstStyle/>
                    <a:p>
                      <a:pPr>
                        <a:buNone/>
                      </a:pPr>
                      <a:r>
                        <a:rPr lang="en-US" sz="1200" b="1" dirty="0">
                          <a:latin typeface="Times New Roman" panose="02020603050405020304" pitchFamily="18" charset="0"/>
                          <a:cs typeface="Times New Roman" panose="02020603050405020304" pitchFamily="18" charset="0"/>
                        </a:rPr>
                        <a:t>Prediction History</a:t>
                      </a:r>
                      <a:endParaRPr lang="en-US" sz="1200" dirty="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View all past predictions </a:t>
                      </a:r>
                    </a:p>
                    <a:p>
                      <a:pPr>
                        <a:buNone/>
                      </a:pPr>
                      <a:r>
                        <a:rPr lang="en-US" sz="1200" dirty="0">
                          <a:latin typeface="Times New Roman" panose="02020603050405020304" pitchFamily="18" charset="0"/>
                          <a:cs typeface="Times New Roman" panose="02020603050405020304" pitchFamily="18" charset="0"/>
                        </a:rPr>
                        <a:t>• Filter by disease type </a:t>
                      </a:r>
                    </a:p>
                    <a:p>
                      <a:pPr>
                        <a:buNone/>
                      </a:pPr>
                      <a:r>
                        <a:rPr lang="en-US" sz="1200" dirty="0">
                          <a:latin typeface="Times New Roman" panose="02020603050405020304" pitchFamily="18" charset="0"/>
                          <a:cs typeface="Times New Roman" panose="02020603050405020304" pitchFamily="18" charset="0"/>
                        </a:rPr>
                        <a:t>• Track risk levels and percentages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Access patient prediction history </a:t>
                      </a:r>
                    </a:p>
                    <a:p>
                      <a:pPr>
                        <a:buNone/>
                      </a:pPr>
                      <a:r>
                        <a:rPr lang="en-US" sz="1200" dirty="0">
                          <a:latin typeface="Times New Roman" panose="02020603050405020304" pitchFamily="18" charset="0"/>
                          <a:cs typeface="Times New Roman" panose="02020603050405020304" pitchFamily="18" charset="0"/>
                        </a:rPr>
                        <a:t>• Compare patient progress</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 View overall system prediction logs and activity</a:t>
                      </a:r>
                    </a:p>
                  </a:txBody>
                  <a:tcPr marL="29200" marR="29200" marT="14600" marB="14600" anchor="ctr"/>
                </a:tc>
                <a:extLst>
                  <a:ext uri="{0D108BD9-81ED-4DB2-BD59-A6C34878D82A}">
                    <a16:rowId xmlns:a16="http://schemas.microsoft.com/office/drawing/2014/main" val="2991516360"/>
                  </a:ext>
                </a:extLst>
              </a:tr>
              <a:tr h="540159">
                <a:tc>
                  <a:txBody>
                    <a:bodyPr/>
                    <a:lstStyle/>
                    <a:p>
                      <a:pPr>
                        <a:buNone/>
                      </a:pPr>
                      <a:r>
                        <a:rPr lang="en-US" sz="1200" b="1" dirty="0">
                          <a:latin typeface="Times New Roman" panose="02020603050405020304" pitchFamily="18" charset="0"/>
                          <a:cs typeface="Times New Roman" panose="02020603050405020304" pitchFamily="18" charset="0"/>
                        </a:rPr>
                        <a:t>Profile Management</a:t>
                      </a:r>
                      <a:endParaRPr lang="en-US" sz="1200" dirty="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Update personal info </a:t>
                      </a:r>
                    </a:p>
                    <a:p>
                      <a:pPr>
                        <a:buNone/>
                      </a:pPr>
                      <a:r>
                        <a:rPr lang="en-US" sz="1200" dirty="0">
                          <a:latin typeface="Times New Roman" panose="02020603050405020304" pitchFamily="18" charset="0"/>
                          <a:cs typeface="Times New Roman" panose="02020603050405020304" pitchFamily="18" charset="0"/>
                        </a:rPr>
                        <a:t>• Add medical history, allergies, medications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Access patient profiles</a:t>
                      </a:r>
                    </a:p>
                    <a:p>
                      <a:pPr>
                        <a:buNone/>
                      </a:pPr>
                      <a:r>
                        <a:rPr lang="en-US" sz="1200" dirty="0">
                          <a:latin typeface="Times New Roman" panose="02020603050405020304" pitchFamily="18" charset="0"/>
                          <a:cs typeface="Times New Roman" panose="02020603050405020304" pitchFamily="18" charset="0"/>
                        </a:rPr>
                        <a:t>• Update medical remarks</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 Manage all user profiles (Patients, Doctors, Admins)</a:t>
                      </a:r>
                    </a:p>
                  </a:txBody>
                  <a:tcPr marL="29200" marR="29200" marT="14600" marB="14600" anchor="ctr"/>
                </a:tc>
                <a:extLst>
                  <a:ext uri="{0D108BD9-81ED-4DB2-BD59-A6C34878D82A}">
                    <a16:rowId xmlns:a16="http://schemas.microsoft.com/office/drawing/2014/main" val="1156307848"/>
                  </a:ext>
                </a:extLst>
              </a:tr>
              <a:tr h="540159">
                <a:tc>
                  <a:txBody>
                    <a:bodyPr/>
                    <a:lstStyle/>
                    <a:p>
                      <a:pPr>
                        <a:buNone/>
                      </a:pPr>
                      <a:r>
                        <a:rPr lang="en-US" sz="1200" b="1">
                          <a:latin typeface="Times New Roman" panose="02020603050405020304" pitchFamily="18" charset="0"/>
                          <a:cs typeface="Times New Roman" panose="02020603050405020304" pitchFamily="18" charset="0"/>
                        </a:rPr>
                        <a:t>Dashboard Features</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Recent predictions </a:t>
                      </a:r>
                    </a:p>
                    <a:p>
                      <a:pPr>
                        <a:buNone/>
                      </a:pPr>
                      <a:r>
                        <a:rPr lang="en-US" sz="1200" dirty="0">
                          <a:latin typeface="Times New Roman" panose="02020603050405020304" pitchFamily="18" charset="0"/>
                          <a:cs typeface="Times New Roman" panose="02020603050405020304" pitchFamily="18" charset="0"/>
                        </a:rPr>
                        <a:t>• Health tips </a:t>
                      </a:r>
                    </a:p>
                    <a:p>
                      <a:pPr>
                        <a:buNone/>
                      </a:pPr>
                      <a:r>
                        <a:rPr lang="en-US" sz="1200" dirty="0">
                          <a:latin typeface="Times New Roman" panose="02020603050405020304" pitchFamily="18" charset="0"/>
                          <a:cs typeface="Times New Roman" panose="02020603050405020304" pitchFamily="18" charset="0"/>
                        </a:rPr>
                        <a:t>• Quick actions</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 Statistics (Patients, Reviews, Consultations) • High-risk alerts banner</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System statistics </a:t>
                      </a:r>
                    </a:p>
                    <a:p>
                      <a:pPr>
                        <a:buNone/>
                      </a:pPr>
                      <a:r>
                        <a:rPr lang="en-US" sz="1200" dirty="0">
                          <a:latin typeface="Times New Roman" panose="02020603050405020304" pitchFamily="18" charset="0"/>
                          <a:cs typeface="Times New Roman" panose="02020603050405020304" pitchFamily="18" charset="0"/>
                        </a:rPr>
                        <a:t>• Reports and analytics dashboard</a:t>
                      </a:r>
                    </a:p>
                  </a:txBody>
                  <a:tcPr marL="29200" marR="29200" marT="14600" marB="14600" anchor="ctr"/>
                </a:tc>
                <a:extLst>
                  <a:ext uri="{0D108BD9-81ED-4DB2-BD59-A6C34878D82A}">
                    <a16:rowId xmlns:a16="http://schemas.microsoft.com/office/drawing/2014/main" val="1496512799"/>
                  </a:ext>
                </a:extLst>
              </a:tr>
              <a:tr h="540159">
                <a:tc>
                  <a:txBody>
                    <a:bodyPr/>
                    <a:lstStyle/>
                    <a:p>
                      <a:pPr>
                        <a:buNone/>
                      </a:pPr>
                      <a:r>
                        <a:rPr lang="en-US" sz="1200" b="1">
                          <a:latin typeface="Times New Roman" panose="02020603050405020304" pitchFamily="18" charset="0"/>
                          <a:cs typeface="Times New Roman" panose="02020603050405020304" pitchFamily="18" charset="0"/>
                        </a:rPr>
                        <a:t>Patient Management</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View all patients </a:t>
                      </a:r>
                    </a:p>
                    <a:p>
                      <a:pPr>
                        <a:buNone/>
                      </a:pPr>
                      <a:r>
                        <a:rPr lang="en-US" sz="1200" dirty="0">
                          <a:latin typeface="Times New Roman" panose="02020603050405020304" pitchFamily="18" charset="0"/>
                          <a:cs typeface="Times New Roman" panose="02020603050405020304" pitchFamily="18" charset="0"/>
                        </a:rPr>
                        <a:t>• Monitor patient risk levels </a:t>
                      </a:r>
                    </a:p>
                    <a:p>
                      <a:pPr>
                        <a:buNone/>
                      </a:pPr>
                      <a:r>
                        <a:rPr lang="en-US" sz="1200" dirty="0">
                          <a:latin typeface="Times New Roman" panose="02020603050405020304" pitchFamily="18" charset="0"/>
                          <a:cs typeface="Times New Roman" panose="02020603050405020304" pitchFamily="18" charset="0"/>
                        </a:rPr>
                        <a:t>• Manage consultations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Assign doctors to patients</a:t>
                      </a:r>
                    </a:p>
                    <a:p>
                      <a:pPr>
                        <a:buNone/>
                      </a:pPr>
                      <a:r>
                        <a:rPr lang="en-US" sz="1200" dirty="0">
                          <a:latin typeface="Times New Roman" panose="02020603050405020304" pitchFamily="18" charset="0"/>
                          <a:cs typeface="Times New Roman" panose="02020603050405020304" pitchFamily="18" charset="0"/>
                        </a:rPr>
                        <a:t>• Approve/Deactivate user accounts</a:t>
                      </a:r>
                    </a:p>
                  </a:txBody>
                  <a:tcPr marL="29200" marR="29200" marT="14600" marB="14600" anchor="ctr"/>
                </a:tc>
                <a:extLst>
                  <a:ext uri="{0D108BD9-81ED-4DB2-BD59-A6C34878D82A}">
                    <a16:rowId xmlns:a16="http://schemas.microsoft.com/office/drawing/2014/main" val="1470140754"/>
                  </a:ext>
                </a:extLst>
              </a:tr>
              <a:tr h="540159">
                <a:tc>
                  <a:txBody>
                    <a:bodyPr/>
                    <a:lstStyle/>
                    <a:p>
                      <a:pPr>
                        <a:buNone/>
                      </a:pPr>
                      <a:r>
                        <a:rPr lang="en-US" sz="1200" b="1">
                          <a:latin typeface="Times New Roman" panose="02020603050405020304" pitchFamily="18" charset="0"/>
                          <a:cs typeface="Times New Roman" panose="02020603050405020304" pitchFamily="18" charset="0"/>
                        </a:rPr>
                        <a:t>High-Risk Alerts</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 Receive alerts about critical predictions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Receive high-risk alerts for patients </a:t>
                      </a:r>
                    </a:p>
                    <a:p>
                      <a:pPr>
                        <a:buNone/>
                      </a:pPr>
                      <a:r>
                        <a:rPr lang="en-US" sz="1200" dirty="0">
                          <a:latin typeface="Times New Roman" panose="02020603050405020304" pitchFamily="18" charset="0"/>
                          <a:cs typeface="Times New Roman" panose="02020603050405020304" pitchFamily="18" charset="0"/>
                        </a:rPr>
                        <a:t>• Priority review access</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 Monitor high-risk statistics across system</a:t>
                      </a:r>
                    </a:p>
                  </a:txBody>
                  <a:tcPr marL="29200" marR="29200" marT="14600" marB="14600" anchor="ctr"/>
                </a:tc>
                <a:extLst>
                  <a:ext uri="{0D108BD9-81ED-4DB2-BD59-A6C34878D82A}">
                    <a16:rowId xmlns:a16="http://schemas.microsoft.com/office/drawing/2014/main" val="1806073156"/>
                  </a:ext>
                </a:extLst>
              </a:tr>
              <a:tr h="540159">
                <a:tc>
                  <a:txBody>
                    <a:bodyPr/>
                    <a:lstStyle/>
                    <a:p>
                      <a:pPr>
                        <a:buNone/>
                      </a:pPr>
                      <a:r>
                        <a:rPr lang="en-US" sz="1200" b="1">
                          <a:latin typeface="Times New Roman" panose="02020603050405020304" pitchFamily="18" charset="0"/>
                          <a:cs typeface="Times New Roman" panose="02020603050405020304" pitchFamily="18" charset="0"/>
                        </a:rPr>
                        <a:t>User Management</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Manage all user accounts </a:t>
                      </a:r>
                    </a:p>
                    <a:p>
                      <a:pPr>
                        <a:buNone/>
                      </a:pPr>
                      <a:r>
                        <a:rPr lang="en-US" sz="1200" dirty="0">
                          <a:latin typeface="Times New Roman" panose="02020603050405020304" pitchFamily="18" charset="0"/>
                          <a:cs typeface="Times New Roman" panose="02020603050405020304" pitchFamily="18" charset="0"/>
                        </a:rPr>
                        <a:t>• Create/Edit/Delete users </a:t>
                      </a:r>
                    </a:p>
                    <a:p>
                      <a:pPr>
                        <a:buNone/>
                      </a:pPr>
                      <a:r>
                        <a:rPr lang="en-US" sz="1200" dirty="0">
                          <a:latin typeface="Times New Roman" panose="02020603050405020304" pitchFamily="18" charset="0"/>
                          <a:cs typeface="Times New Roman" panose="02020603050405020304" pitchFamily="18" charset="0"/>
                        </a:rPr>
                        <a:t>• Approve doctor registrations</a:t>
                      </a:r>
                    </a:p>
                  </a:txBody>
                  <a:tcPr marL="29200" marR="29200" marT="14600" marB="14600" anchor="ctr"/>
                </a:tc>
                <a:extLst>
                  <a:ext uri="{0D108BD9-81ED-4DB2-BD59-A6C34878D82A}">
                    <a16:rowId xmlns:a16="http://schemas.microsoft.com/office/drawing/2014/main" val="3968580396"/>
                  </a:ext>
                </a:extLst>
              </a:tr>
              <a:tr h="540159">
                <a:tc>
                  <a:txBody>
                    <a:bodyPr/>
                    <a:lstStyle/>
                    <a:p>
                      <a:pPr>
                        <a:buNone/>
                      </a:pPr>
                      <a:r>
                        <a:rPr lang="en-US" sz="1200" b="1">
                          <a:latin typeface="Times New Roman" panose="02020603050405020304" pitchFamily="18" charset="0"/>
                          <a:cs typeface="Times New Roman" panose="02020603050405020304" pitchFamily="18" charset="0"/>
                        </a:rPr>
                        <a:t>System Analytics &amp; Settings</a:t>
                      </a:r>
                      <a:endParaRPr lang="en-US" sz="120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Generate reports and trends </a:t>
                      </a:r>
                    </a:p>
                    <a:p>
                      <a:pPr>
                        <a:buNone/>
                      </a:pPr>
                      <a:r>
                        <a:rPr lang="en-US" sz="1200" dirty="0">
                          <a:latin typeface="Times New Roman" panose="02020603050405020304" pitchFamily="18" charset="0"/>
                          <a:cs typeface="Times New Roman" panose="02020603050405020304" pitchFamily="18" charset="0"/>
                        </a:rPr>
                        <a:t>• Manage ML models </a:t>
                      </a:r>
                    </a:p>
                    <a:p>
                      <a:pPr>
                        <a:buNone/>
                      </a:pPr>
                      <a:r>
                        <a:rPr lang="en-US" sz="1200" dirty="0">
                          <a:latin typeface="Times New Roman" panose="02020603050405020304" pitchFamily="18" charset="0"/>
                          <a:cs typeface="Times New Roman" panose="02020603050405020304" pitchFamily="18" charset="0"/>
                        </a:rPr>
                        <a:t>• Configure system settings</a:t>
                      </a:r>
                    </a:p>
                  </a:txBody>
                  <a:tcPr marL="29200" marR="29200" marT="14600" marB="14600" anchor="ctr"/>
                </a:tc>
                <a:extLst>
                  <a:ext uri="{0D108BD9-81ED-4DB2-BD59-A6C34878D82A}">
                    <a16:rowId xmlns:a16="http://schemas.microsoft.com/office/drawing/2014/main" val="2426919589"/>
                  </a:ext>
                </a:extLst>
              </a:tr>
              <a:tr h="503937">
                <a:tc>
                  <a:txBody>
                    <a:bodyPr/>
                    <a:lstStyle/>
                    <a:p>
                      <a:pPr>
                        <a:buNone/>
                      </a:pPr>
                      <a:r>
                        <a:rPr lang="en-US" sz="1200" b="1" dirty="0">
                          <a:latin typeface="Times New Roman" panose="02020603050405020304" pitchFamily="18" charset="0"/>
                          <a:cs typeface="Times New Roman" panose="02020603050405020304" pitchFamily="18" charset="0"/>
                        </a:rPr>
                        <a:t>Security Features</a:t>
                      </a:r>
                      <a:endParaRPr lang="en-US" sz="1200" dirty="0">
                        <a:latin typeface="Times New Roman" panose="02020603050405020304" pitchFamily="18" charset="0"/>
                        <a:cs typeface="Times New Roman" panose="02020603050405020304" pitchFamily="18" charset="0"/>
                      </a:endParaRP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JWT Authentication</a:t>
                      </a:r>
                    </a:p>
                    <a:p>
                      <a:pPr>
                        <a:buNone/>
                      </a:pPr>
                      <a:r>
                        <a:rPr lang="en-US" sz="1200" dirty="0">
                          <a:latin typeface="Times New Roman" panose="02020603050405020304" pitchFamily="18" charset="0"/>
                          <a:cs typeface="Times New Roman" panose="02020603050405020304" pitchFamily="18" charset="0"/>
                        </a:rPr>
                        <a:t> • Password Encryption (</a:t>
                      </a:r>
                      <a:r>
                        <a:rPr lang="en-US" sz="1200" dirty="0" err="1">
                          <a:latin typeface="Times New Roman" panose="02020603050405020304" pitchFamily="18" charset="0"/>
                          <a:cs typeface="Times New Roman" panose="02020603050405020304" pitchFamily="18" charset="0"/>
                        </a:rPr>
                        <a:t>bcrypt</a:t>
                      </a:r>
                      <a:r>
                        <a:rPr lang="en-US" sz="1200" dirty="0">
                          <a:latin typeface="Times New Roman" panose="02020603050405020304" pitchFamily="18" charset="0"/>
                          <a:cs typeface="Times New Roman" panose="02020603050405020304" pitchFamily="18" charset="0"/>
                        </a:rPr>
                        <a:t>)</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Role-Based Route Protection </a:t>
                      </a:r>
                    </a:p>
                    <a:p>
                      <a:pPr>
                        <a:buNone/>
                      </a:pPr>
                      <a:r>
                        <a:rPr lang="en-US" sz="1200" dirty="0">
                          <a:latin typeface="Times New Roman" panose="02020603050405020304" pitchFamily="18" charset="0"/>
                          <a:cs typeface="Times New Roman" panose="02020603050405020304" pitchFamily="18" charset="0"/>
                        </a:rPr>
                        <a:t>• Secure API Access</a:t>
                      </a:r>
                    </a:p>
                  </a:txBody>
                  <a:tcPr marL="29200" marR="29200" marT="14600" marB="14600" anchor="ctr"/>
                </a:tc>
                <a:tc>
                  <a:txBody>
                    <a:bodyPr/>
                    <a:lstStyle/>
                    <a:p>
                      <a:pPr>
                        <a:buNone/>
                      </a:pPr>
                      <a:r>
                        <a:rPr lang="en-US" sz="1200" dirty="0">
                          <a:latin typeface="Times New Roman" panose="02020603050405020304" pitchFamily="18" charset="0"/>
                          <a:cs typeface="Times New Roman" panose="02020603050405020304" pitchFamily="18" charset="0"/>
                        </a:rPr>
                        <a:t>• Full access control over all security layers</a:t>
                      </a:r>
                    </a:p>
                  </a:txBody>
                  <a:tcPr marL="29200" marR="29200" marT="14600" marB="14600" anchor="ctr"/>
                </a:tc>
                <a:extLst>
                  <a:ext uri="{0D108BD9-81ED-4DB2-BD59-A6C34878D82A}">
                    <a16:rowId xmlns:a16="http://schemas.microsoft.com/office/drawing/2014/main" val="50090706"/>
                  </a:ext>
                </a:extLst>
              </a:tr>
            </a:tbl>
          </a:graphicData>
        </a:graphic>
      </p:graphicFrame>
      <p:sp>
        <p:nvSpPr>
          <p:cNvPr id="11" name="TextBox 10">
            <a:extLst>
              <a:ext uri="{FF2B5EF4-FFF2-40B4-BE49-F238E27FC236}">
                <a16:creationId xmlns:a16="http://schemas.microsoft.com/office/drawing/2014/main" id="{EC466BA1-1F69-6169-C6B4-FDCAE698B170}"/>
              </a:ext>
            </a:extLst>
          </p:cNvPr>
          <p:cNvSpPr txBox="1"/>
          <p:nvPr/>
        </p:nvSpPr>
        <p:spPr>
          <a:xfrm>
            <a:off x="2195371" y="89554"/>
            <a:ext cx="515073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System Overview the Role Based Features </a:t>
            </a:r>
          </a:p>
        </p:txBody>
      </p:sp>
    </p:spTree>
    <p:extLst>
      <p:ext uri="{BB962C8B-B14F-4D97-AF65-F5344CB8AC3E}">
        <p14:creationId xmlns:p14="http://schemas.microsoft.com/office/powerpoint/2010/main" val="3664675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505F31-992D-6156-F264-B75C6C1D9EC6}"/>
              </a:ext>
            </a:extLst>
          </p:cNvPr>
          <p:cNvSpPr>
            <a:spLocks noGrp="1"/>
          </p:cNvSpPr>
          <p:nvPr>
            <p:ph idx="1"/>
          </p:nvPr>
        </p:nvSpPr>
        <p:spPr>
          <a:xfrm>
            <a:off x="457200" y="807720"/>
            <a:ext cx="8229600" cy="4525963"/>
          </a:xfrm>
        </p:spPr>
        <p:txBody>
          <a:bodyPr>
            <a:normAutofit fontScale="85000" lnSpcReduction="10000"/>
          </a:bodyPr>
          <a:lstStyle/>
          <a:p>
            <a:pPr marL="0" indent="0">
              <a:lnSpc>
                <a:spcPct val="160000"/>
              </a:lnSpc>
              <a:buNone/>
            </a:pPr>
            <a:r>
              <a:rPr lang="en-US" sz="3600" b="1" dirty="0">
                <a:latin typeface="Times New Roman" panose="02020603050405020304" pitchFamily="18" charset="0"/>
                <a:cs typeface="Times New Roman" panose="02020603050405020304" pitchFamily="18" charset="0"/>
              </a:rPr>
              <a:t>Technologies to Be Used</a:t>
            </a:r>
          </a:p>
          <a:p>
            <a:pPr>
              <a:lnSpc>
                <a:spcPct val="160000"/>
              </a:lnSpc>
            </a:pPr>
            <a:r>
              <a:rPr lang="en-US" dirty="0">
                <a:latin typeface="Times New Roman" panose="02020603050405020304" pitchFamily="18" charset="0"/>
                <a:cs typeface="Times New Roman" panose="02020603050405020304" pitchFamily="18" charset="0"/>
              </a:rPr>
              <a:t>Frontend: Next.js 14 TypeScript, </a:t>
            </a:r>
            <a:r>
              <a:rPr lang="en-US" dirty="0" err="1">
                <a:latin typeface="Times New Roman" panose="02020603050405020304" pitchFamily="18" charset="0"/>
                <a:cs typeface="Times New Roman" panose="02020603050405020304" pitchFamily="18" charset="0"/>
              </a:rPr>
              <a:t>TailwindCSS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ShadCN</a:t>
            </a:r>
            <a:r>
              <a:rPr lang="en-US" dirty="0">
                <a:latin typeface="Times New Roman" panose="02020603050405020304" pitchFamily="18" charset="0"/>
                <a:cs typeface="Times New Roman" panose="02020603050405020304" pitchFamily="18" charset="0"/>
              </a:rPr>
              <a:t> components.</a:t>
            </a:r>
          </a:p>
          <a:p>
            <a:r>
              <a:rPr lang="en-US" dirty="0">
                <a:latin typeface="Times New Roman" panose="02020603050405020304" pitchFamily="18" charset="0"/>
                <a:cs typeface="Times New Roman" panose="02020603050405020304" pitchFamily="18" charset="0"/>
              </a:rPr>
              <a:t>Backend: Python , FastAPI, MongoDB.</a:t>
            </a:r>
          </a:p>
          <a:p>
            <a:r>
              <a:rPr lang="en-US" dirty="0">
                <a:latin typeface="Times New Roman" panose="02020603050405020304" pitchFamily="18" charset="0"/>
                <a:cs typeface="Times New Roman" panose="02020603050405020304" pitchFamily="18" charset="0"/>
              </a:rPr>
              <a:t>ML: scikit-learn, pandas, joblib.</a:t>
            </a:r>
          </a:p>
          <a:p>
            <a:r>
              <a:rPr lang="en-US" dirty="0">
                <a:latin typeface="Times New Roman" panose="02020603050405020304" pitchFamily="18" charset="0"/>
                <a:cs typeface="Times New Roman" panose="02020603050405020304" pitchFamily="18" charset="0"/>
              </a:rPr>
              <a:t>Dataset: Kaggle API, UCI ML Repository integration.</a:t>
            </a:r>
          </a:p>
          <a:p>
            <a:r>
              <a:rPr lang="en-US" dirty="0">
                <a:latin typeface="Times New Roman" panose="02020603050405020304" pitchFamily="18" charset="0"/>
                <a:cs typeface="Times New Roman" panose="02020603050405020304" pitchFamily="18" charset="0"/>
              </a:rPr>
              <a:t>Translation: Google Translate API.</a:t>
            </a:r>
          </a:p>
          <a:p>
            <a:r>
              <a:rPr lang="en-US" dirty="0">
                <a:latin typeface="Times New Roman" panose="02020603050405020304" pitchFamily="18" charset="0"/>
                <a:cs typeface="Times New Roman" panose="02020603050405020304" pitchFamily="18" charset="0"/>
              </a:rPr>
              <a:t>Real-time: WebSocket for instant notifications</a:t>
            </a:r>
          </a:p>
          <a:p>
            <a:endParaRPr lang="en-US" dirty="0"/>
          </a:p>
        </p:txBody>
      </p:sp>
    </p:spTree>
    <p:extLst>
      <p:ext uri="{BB962C8B-B14F-4D97-AF65-F5344CB8AC3E}">
        <p14:creationId xmlns:p14="http://schemas.microsoft.com/office/powerpoint/2010/main" val="366670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400" b="1">
                <a:solidFill>
                  <a:srgbClr val="1E40AF"/>
                </a:solidFill>
                <a:latin typeface="Calibri"/>
              </a:defRPr>
            </a:pPr>
            <a:r>
              <a:rPr dirty="0"/>
              <a:t>System Design / Methodology</a:t>
            </a:r>
          </a:p>
        </p:txBody>
      </p:sp>
      <p:sp>
        <p:nvSpPr>
          <p:cNvPr id="3" name="Content Placeholder 2"/>
          <p:cNvSpPr>
            <a:spLocks noGrp="1"/>
          </p:cNvSpPr>
          <p:nvPr>
            <p:ph idx="1"/>
          </p:nvPr>
        </p:nvSpPr>
        <p:spPr>
          <a:xfrm>
            <a:off x="457200" y="1271016"/>
            <a:ext cx="8229600" cy="4525963"/>
          </a:xfrm>
        </p:spPr>
        <p:txBody>
          <a:bodyPr wrap="square">
            <a:normAutofit fontScale="40000" lnSpcReduction="20000"/>
          </a:bodyPr>
          <a:lstStyle/>
          <a:p>
            <a:pPr marL="0" indent="0">
              <a:buNone/>
            </a:pPr>
            <a:r>
              <a:rPr lang="en-US" sz="5100" b="1" dirty="0">
                <a:latin typeface="Times New Roman" panose="02020603050405020304" pitchFamily="18" charset="0"/>
                <a:cs typeface="Times New Roman" panose="02020603050405020304" pitchFamily="18" charset="0"/>
              </a:rPr>
              <a:t>Development Model</a:t>
            </a:r>
          </a:p>
          <a:p>
            <a:pPr marL="0" indent="0" algn="just">
              <a:lnSpc>
                <a:spcPct val="120000"/>
              </a:lnSpc>
              <a:buNone/>
            </a:pPr>
            <a:r>
              <a:rPr lang="en-US" sz="5100" dirty="0">
                <a:latin typeface="Times New Roman" panose="02020603050405020304" pitchFamily="18" charset="0"/>
                <a:cs typeface="Times New Roman" panose="02020603050405020304" pitchFamily="18" charset="0"/>
              </a:rPr>
              <a:t>The project follows the </a:t>
            </a:r>
            <a:r>
              <a:rPr lang="en-US" sz="5100" b="1" dirty="0">
                <a:latin typeface="Times New Roman" panose="02020603050405020304" pitchFamily="18" charset="0"/>
                <a:cs typeface="Times New Roman" panose="02020603050405020304" pitchFamily="18" charset="0"/>
              </a:rPr>
              <a:t>Agile methodology</a:t>
            </a:r>
            <a:r>
              <a:rPr lang="en-US" sz="5100" dirty="0">
                <a:latin typeface="Times New Roman" panose="02020603050405020304" pitchFamily="18" charset="0"/>
                <a:cs typeface="Times New Roman" panose="02020603050405020304" pitchFamily="18" charset="0"/>
              </a:rPr>
              <a:t> to support iterative and flexible development. Agile enables continuous improvement, early detection of issues, and quick adaptation to changing requirements. It also ensures better collaboration, faster feedback cycles, and consistent progress throughout development.</a:t>
            </a:r>
          </a:p>
          <a:p>
            <a:pPr marL="0" indent="0">
              <a:buNone/>
            </a:pPr>
            <a:endParaRPr lang="en-US" sz="3800" dirty="0">
              <a:latin typeface="Times New Roman" panose="02020603050405020304" pitchFamily="18" charset="0"/>
              <a:cs typeface="Times New Roman" panose="02020603050405020304" pitchFamily="18" charset="0"/>
            </a:endParaRPr>
          </a:p>
          <a:p>
            <a:pPr marL="0" indent="0">
              <a:buNone/>
            </a:pPr>
            <a:r>
              <a:rPr lang="en-US" sz="5100" b="1" dirty="0">
                <a:latin typeface="Times New Roman" panose="02020603050405020304" pitchFamily="18" charset="0"/>
                <a:cs typeface="Times New Roman" panose="02020603050405020304" pitchFamily="18" charset="0"/>
              </a:rPr>
              <a:t>Tools</a:t>
            </a:r>
          </a:p>
          <a:p>
            <a:r>
              <a:rPr lang="en-US" sz="4400" dirty="0">
                <a:latin typeface="Times New Roman" panose="02020603050405020304" pitchFamily="18" charset="0"/>
                <a:cs typeface="Times New Roman" panose="02020603050405020304" pitchFamily="18" charset="0"/>
              </a:rPr>
              <a:t>Development: VS Code, Git, GitHub</a:t>
            </a:r>
          </a:p>
          <a:p>
            <a:r>
              <a:rPr lang="en-US" sz="4400" dirty="0">
                <a:latin typeface="Times New Roman" panose="02020603050405020304" pitchFamily="18" charset="0"/>
                <a:cs typeface="Times New Roman" panose="02020603050405020304" pitchFamily="18" charset="0"/>
              </a:rPr>
              <a:t>Database: MongoDB, MongoDB Compass</a:t>
            </a:r>
          </a:p>
          <a:p>
            <a:r>
              <a:rPr lang="en-US" sz="4400" dirty="0">
                <a:latin typeface="Times New Roman" panose="02020603050405020304" pitchFamily="18" charset="0"/>
                <a:cs typeface="Times New Roman" panose="02020603050405020304" pitchFamily="18" charset="0"/>
              </a:rPr>
              <a:t>ML: VS Code, scikit-learn, pandas, </a:t>
            </a:r>
            <a:r>
              <a:rPr lang="en-US" sz="4400" dirty="0" err="1">
                <a:latin typeface="Times New Roman" panose="02020603050405020304" pitchFamily="18" charset="0"/>
                <a:cs typeface="Times New Roman" panose="02020603050405020304" pitchFamily="18" charset="0"/>
              </a:rPr>
              <a:t>joblib</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Dataset Management: Kaggle API, pandas for preprocessing</a:t>
            </a:r>
          </a:p>
          <a:p>
            <a:r>
              <a:rPr lang="en-US" sz="4400" dirty="0">
                <a:latin typeface="Times New Roman" panose="02020603050405020304" pitchFamily="18" charset="0"/>
                <a:cs typeface="Times New Roman" panose="02020603050405020304" pitchFamily="18" charset="0"/>
              </a:rPr>
              <a:t>Testing: </a:t>
            </a:r>
            <a:r>
              <a:rPr lang="en-US" sz="4400" dirty="0" err="1">
                <a:latin typeface="Times New Roman" panose="02020603050405020304" pitchFamily="18" charset="0"/>
                <a:cs typeface="Times New Roman" panose="02020603050405020304" pitchFamily="18" charset="0"/>
              </a:rPr>
              <a:t>pytest</a:t>
            </a:r>
            <a:r>
              <a:rPr lang="en-US" sz="4400" dirty="0">
                <a:latin typeface="Times New Roman" panose="02020603050405020304" pitchFamily="18" charset="0"/>
                <a:cs typeface="Times New Roman" panose="02020603050405020304" pitchFamily="18" charset="0"/>
              </a:rPr>
              <a:t>, Postman</a:t>
            </a:r>
          </a:p>
          <a:p>
            <a:pPr marL="0" indent="0">
              <a:spcAft>
                <a:spcPts val="12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D9E79-90CC-69E8-602E-6510F2AB96D5}"/>
              </a:ext>
            </a:extLst>
          </p:cNvPr>
          <p:cNvSpPr>
            <a:spLocks noGrp="1"/>
          </p:cNvSpPr>
          <p:nvPr>
            <p:ph idx="1"/>
          </p:nvPr>
        </p:nvSpPr>
        <p:spPr>
          <a:xfrm>
            <a:off x="457200" y="551688"/>
            <a:ext cx="8229600" cy="5715000"/>
          </a:xfrm>
        </p:spPr>
        <p:txBody>
          <a:bodyPr>
            <a:normAutofit fontScale="25000" lnSpcReduction="20000"/>
          </a:bodyPr>
          <a:lstStyle/>
          <a:p>
            <a:pPr marL="0" indent="0" algn="ctr">
              <a:buNone/>
            </a:pPr>
            <a:r>
              <a:rPr lang="en-US" sz="12800" b="1" dirty="0">
                <a:latin typeface="Times New Roman" panose="02020603050405020304" pitchFamily="18" charset="0"/>
                <a:cs typeface="Times New Roman" panose="02020603050405020304" pitchFamily="18" charset="0"/>
              </a:rPr>
              <a:t>Architecture</a:t>
            </a:r>
          </a:p>
          <a:p>
            <a:pPr marL="0" indent="0">
              <a:buNone/>
            </a:pPr>
            <a:endParaRPr lang="en-US" sz="48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1. </a:t>
            </a:r>
            <a:r>
              <a:rPr lang="en-US" sz="6400" b="1" dirty="0">
                <a:latin typeface="Times New Roman" panose="02020603050405020304" pitchFamily="18" charset="0"/>
                <a:cs typeface="Times New Roman" panose="02020603050405020304" pitchFamily="18" charset="0"/>
              </a:rPr>
              <a:t>PRESENTATION LAYER (Frontend - Next.js)                      </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 User Interface (React Components)</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 Patient/Doctor/Admin Dashboards</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 Prediction Forms</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 Multi-language Translation UI</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 Real-time Alert Notifications</a:t>
            </a:r>
          </a:p>
          <a:p>
            <a:endParaRPr lang="en-US" sz="64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2.</a:t>
            </a:r>
            <a:r>
              <a:rPr lang="en-US" sz="6400" b="1" dirty="0">
                <a:latin typeface="Times New Roman" panose="02020603050405020304" pitchFamily="18" charset="0"/>
                <a:cs typeface="Times New Roman" panose="02020603050405020304" pitchFamily="18" charset="0"/>
              </a:rPr>
              <a:t>APPLICATION LAYER (Backend – Python ,FastAPI)</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API Endpoints (/api/v1/auth, /api/v1/predictions, etc.)</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Authentication &amp; Authorization (JWT)</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ML Model Loading &amp; Prediction</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Risk Assessment Calculation</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Recommendation Generation</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Real-time Alert Triggering</a:t>
            </a:r>
          </a:p>
          <a:p>
            <a:pPr marL="0" indent="0">
              <a:buNone/>
            </a:pPr>
            <a:endParaRPr lang="en-US" sz="64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3. </a:t>
            </a:r>
            <a:r>
              <a:rPr lang="en-US" sz="6400" b="1" dirty="0">
                <a:latin typeface="Times New Roman" panose="02020603050405020304" pitchFamily="18" charset="0"/>
                <a:cs typeface="Times New Roman" panose="02020603050405020304" pitchFamily="18" charset="0"/>
              </a:rPr>
              <a:t>DATA LAYER (Database - MongoDB)</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users' collection</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predictions collection</a:t>
            </a:r>
          </a:p>
          <a:p>
            <a:pPr lvl="1">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notifications collection</a:t>
            </a:r>
          </a:p>
          <a:p>
            <a:endParaRPr lang="en-US" sz="64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654489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517" y="418467"/>
            <a:ext cx="8229600" cy="545494"/>
          </a:xfrm>
        </p:spPr>
        <p:txBody>
          <a:bodyPr>
            <a:normAutofit fontScale="90000"/>
          </a:bodyPr>
          <a:lstStyle/>
          <a:p>
            <a:pPr>
              <a:defRPr sz="4400" b="1">
                <a:solidFill>
                  <a:srgbClr val="1E40AF"/>
                </a:solidFill>
                <a:latin typeface="Calibri"/>
              </a:defRPr>
            </a:pPr>
            <a:r>
              <a:rPr dirty="0"/>
              <a:t>Work Plan / Timeline</a:t>
            </a:r>
            <a:br>
              <a:rPr lang="en-US" dirty="0"/>
            </a:br>
            <a:endParaRPr dirty="0"/>
          </a:p>
        </p:txBody>
      </p:sp>
      <p:graphicFrame>
        <p:nvGraphicFramePr>
          <p:cNvPr id="4" name="Content Placeholder 3">
            <a:extLst>
              <a:ext uri="{FF2B5EF4-FFF2-40B4-BE49-F238E27FC236}">
                <a16:creationId xmlns:a16="http://schemas.microsoft.com/office/drawing/2014/main" id="{9F7A6E57-7440-694F-66A2-E2D3B446D25C}"/>
              </a:ext>
            </a:extLst>
          </p:cNvPr>
          <p:cNvGraphicFramePr>
            <a:graphicFrameLocks noGrp="1"/>
          </p:cNvGraphicFramePr>
          <p:nvPr>
            <p:ph idx="1"/>
            <p:extLst>
              <p:ext uri="{D42A27DB-BD31-4B8C-83A1-F6EECF244321}">
                <p14:modId xmlns:p14="http://schemas.microsoft.com/office/powerpoint/2010/main" val="4291833291"/>
              </p:ext>
            </p:extLst>
          </p:nvPr>
        </p:nvGraphicFramePr>
        <p:xfrm>
          <a:off x="914400" y="1860941"/>
          <a:ext cx="6768444" cy="4840091"/>
        </p:xfrm>
        <a:graphic>
          <a:graphicData uri="http://schemas.openxmlformats.org/drawingml/2006/table">
            <a:tbl>
              <a:tblPr>
                <a:tableStyleId>{F5AB1C69-6EDB-4FF4-983F-18BD219EF322}</a:tableStyleId>
              </a:tblPr>
              <a:tblGrid>
                <a:gridCol w="1692111">
                  <a:extLst>
                    <a:ext uri="{9D8B030D-6E8A-4147-A177-3AD203B41FA5}">
                      <a16:colId xmlns:a16="http://schemas.microsoft.com/office/drawing/2014/main" val="2409948805"/>
                    </a:ext>
                  </a:extLst>
                </a:gridCol>
                <a:gridCol w="1692111">
                  <a:extLst>
                    <a:ext uri="{9D8B030D-6E8A-4147-A177-3AD203B41FA5}">
                      <a16:colId xmlns:a16="http://schemas.microsoft.com/office/drawing/2014/main" val="2744321203"/>
                    </a:ext>
                  </a:extLst>
                </a:gridCol>
                <a:gridCol w="1692111">
                  <a:extLst>
                    <a:ext uri="{9D8B030D-6E8A-4147-A177-3AD203B41FA5}">
                      <a16:colId xmlns:a16="http://schemas.microsoft.com/office/drawing/2014/main" val="3887706554"/>
                    </a:ext>
                  </a:extLst>
                </a:gridCol>
                <a:gridCol w="1692111">
                  <a:extLst>
                    <a:ext uri="{9D8B030D-6E8A-4147-A177-3AD203B41FA5}">
                      <a16:colId xmlns:a16="http://schemas.microsoft.com/office/drawing/2014/main" val="3660614984"/>
                    </a:ext>
                  </a:extLst>
                </a:gridCol>
              </a:tblGrid>
              <a:tr h="189623">
                <a:tc>
                  <a:txBody>
                    <a:bodyPr/>
                    <a:lstStyle/>
                    <a:p>
                      <a:pPr>
                        <a:buNone/>
                      </a:pPr>
                      <a:r>
                        <a:rPr lang="en-US" sz="1200" b="1">
                          <a:latin typeface="Times New Roman" panose="02020603050405020304" pitchFamily="18" charset="0"/>
                          <a:cs typeface="Times New Roman" panose="02020603050405020304" pitchFamily="18" charset="0"/>
                        </a:rPr>
                        <a:t>Task</a:t>
                      </a:r>
                      <a:endParaRPr lang="en-US" sz="1200">
                        <a:latin typeface="Times New Roman" panose="02020603050405020304" pitchFamily="18" charset="0"/>
                        <a:cs typeface="Times New Roman" panose="02020603050405020304" pitchFamily="18" charset="0"/>
                      </a:endParaRPr>
                    </a:p>
                  </a:txBody>
                  <a:tcPr marL="46659" marR="46659" marT="23330" marB="23330" anchor="ctr"/>
                </a:tc>
                <a:tc>
                  <a:txBody>
                    <a:bodyPr/>
                    <a:lstStyle/>
                    <a:p>
                      <a:pPr>
                        <a:buNone/>
                      </a:pPr>
                      <a:r>
                        <a:rPr lang="en-US" sz="1200" b="1">
                          <a:latin typeface="Times New Roman" panose="02020603050405020304" pitchFamily="18" charset="0"/>
                          <a:cs typeface="Times New Roman" panose="02020603050405020304" pitchFamily="18" charset="0"/>
                        </a:rPr>
                        <a:t>Start</a:t>
                      </a:r>
                      <a:endParaRPr lang="en-US" sz="1200">
                        <a:latin typeface="Times New Roman" panose="02020603050405020304" pitchFamily="18" charset="0"/>
                        <a:cs typeface="Times New Roman" panose="02020603050405020304" pitchFamily="18" charset="0"/>
                      </a:endParaRPr>
                    </a:p>
                  </a:txBody>
                  <a:tcPr marL="46659" marR="46659" marT="23330" marB="23330" anchor="ctr"/>
                </a:tc>
                <a:tc>
                  <a:txBody>
                    <a:bodyPr/>
                    <a:lstStyle/>
                    <a:p>
                      <a:pPr>
                        <a:buNone/>
                      </a:pPr>
                      <a:r>
                        <a:rPr lang="en-US" sz="1200" b="1">
                          <a:latin typeface="Times New Roman" panose="02020603050405020304" pitchFamily="18" charset="0"/>
                          <a:cs typeface="Times New Roman" panose="02020603050405020304" pitchFamily="18" charset="0"/>
                        </a:rPr>
                        <a:t>End</a:t>
                      </a:r>
                      <a:endParaRPr lang="en-US" sz="1200">
                        <a:latin typeface="Times New Roman" panose="02020603050405020304" pitchFamily="18" charset="0"/>
                        <a:cs typeface="Times New Roman" panose="02020603050405020304" pitchFamily="18" charset="0"/>
                      </a:endParaRPr>
                    </a:p>
                  </a:txBody>
                  <a:tcPr marL="46659" marR="46659" marT="23330" marB="23330" anchor="ctr"/>
                </a:tc>
                <a:tc>
                  <a:txBody>
                    <a:bodyPr/>
                    <a:lstStyle/>
                    <a:p>
                      <a:pPr>
                        <a:buNone/>
                      </a:pPr>
                      <a:r>
                        <a:rPr lang="en-US" sz="1200" b="1">
                          <a:latin typeface="Times New Roman" panose="02020603050405020304" pitchFamily="18" charset="0"/>
                          <a:cs typeface="Times New Roman" panose="02020603050405020304" pitchFamily="18" charset="0"/>
                        </a:rPr>
                        <a:t>Key Deliverables</a:t>
                      </a:r>
                      <a:endParaRPr lang="en-US" sz="1200">
                        <a:latin typeface="Times New Roman" panose="02020603050405020304" pitchFamily="18" charset="0"/>
                        <a:cs typeface="Times New Roman" panose="02020603050405020304" pitchFamily="18" charset="0"/>
                      </a:endParaRPr>
                    </a:p>
                  </a:txBody>
                  <a:tcPr marL="46659" marR="46659" marT="23330" marB="23330" anchor="ctr"/>
                </a:tc>
                <a:extLst>
                  <a:ext uri="{0D108BD9-81ED-4DB2-BD59-A6C34878D82A}">
                    <a16:rowId xmlns:a16="http://schemas.microsoft.com/office/drawing/2014/main" val="1894681341"/>
                  </a:ext>
                </a:extLst>
              </a:tr>
              <a:tr h="474057">
                <a:tc>
                  <a:txBody>
                    <a:bodyPr/>
                    <a:lstStyle/>
                    <a:p>
                      <a:pPr>
                        <a:buNone/>
                      </a:pPr>
                      <a:r>
                        <a:rPr lang="en-US" sz="1200">
                          <a:latin typeface="Times New Roman" panose="02020603050405020304" pitchFamily="18" charset="0"/>
                          <a:cs typeface="Times New Roman" panose="02020603050405020304" pitchFamily="18" charset="0"/>
                        </a:rPr>
                        <a:t>Requirements Analysis and Planning</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2</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Requirement document, project plan</a:t>
                      </a:r>
                    </a:p>
                  </a:txBody>
                  <a:tcPr marL="46659" marR="46659" marT="23330" marB="23330" anchor="ctr"/>
                </a:tc>
                <a:extLst>
                  <a:ext uri="{0D108BD9-81ED-4DB2-BD59-A6C34878D82A}">
                    <a16:rowId xmlns:a16="http://schemas.microsoft.com/office/drawing/2014/main" val="233390592"/>
                  </a:ext>
                </a:extLst>
              </a:tr>
              <a:tr h="474057">
                <a:tc>
                  <a:txBody>
                    <a:bodyPr/>
                    <a:lstStyle/>
                    <a:p>
                      <a:pPr>
                        <a:buNone/>
                      </a:pPr>
                      <a:r>
                        <a:rPr lang="en-US" sz="1200" dirty="0">
                          <a:latin typeface="Times New Roman" panose="02020603050405020304" pitchFamily="18" charset="0"/>
                          <a:cs typeface="Times New Roman" panose="02020603050405020304" pitchFamily="18" charset="0"/>
                        </a:rPr>
                        <a:t>Database Setup and Authentication System</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Week 3</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4</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Database schema, login &amp; registration modules</a:t>
                      </a:r>
                    </a:p>
                  </a:txBody>
                  <a:tcPr marL="46659" marR="46659" marT="23330" marB="23330" anchor="ctr"/>
                </a:tc>
                <a:extLst>
                  <a:ext uri="{0D108BD9-81ED-4DB2-BD59-A6C34878D82A}">
                    <a16:rowId xmlns:a16="http://schemas.microsoft.com/office/drawing/2014/main" val="180642536"/>
                  </a:ext>
                </a:extLst>
              </a:tr>
              <a:tr h="616273">
                <a:tc>
                  <a:txBody>
                    <a:bodyPr/>
                    <a:lstStyle/>
                    <a:p>
                      <a:pPr>
                        <a:buNone/>
                      </a:pPr>
                      <a:r>
                        <a:rPr lang="en-US" sz="1200" dirty="0">
                          <a:latin typeface="Times New Roman" panose="02020603050405020304" pitchFamily="18" charset="0"/>
                          <a:cs typeface="Times New Roman" panose="02020603050405020304" pitchFamily="18" charset="0"/>
                        </a:rPr>
                        <a:t>Data Collection and Machine Learning Model Development</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5</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6</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Dataset collection, trained ML models</a:t>
                      </a:r>
                    </a:p>
                  </a:txBody>
                  <a:tcPr marL="46659" marR="46659" marT="23330" marB="23330" anchor="ctr"/>
                </a:tc>
                <a:extLst>
                  <a:ext uri="{0D108BD9-81ED-4DB2-BD59-A6C34878D82A}">
                    <a16:rowId xmlns:a16="http://schemas.microsoft.com/office/drawing/2014/main" val="2719336430"/>
                  </a:ext>
                </a:extLst>
              </a:tr>
              <a:tr h="474057">
                <a:tc>
                  <a:txBody>
                    <a:bodyPr/>
                    <a:lstStyle/>
                    <a:p>
                      <a:pPr>
                        <a:buNone/>
                      </a:pPr>
                      <a:r>
                        <a:rPr lang="en-US" sz="1200">
                          <a:latin typeface="Times New Roman" panose="02020603050405020304" pitchFamily="18" charset="0"/>
                          <a:cs typeface="Times New Roman" panose="02020603050405020304" pitchFamily="18" charset="0"/>
                        </a:rPr>
                        <a:t>Backend API Development</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Week 7</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Week 8</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RESTful APIs for data and prediction services</a:t>
                      </a:r>
                    </a:p>
                  </a:txBody>
                  <a:tcPr marL="46659" marR="46659" marT="23330" marB="23330" anchor="ctr"/>
                </a:tc>
                <a:extLst>
                  <a:ext uri="{0D108BD9-81ED-4DB2-BD59-A6C34878D82A}">
                    <a16:rowId xmlns:a16="http://schemas.microsoft.com/office/drawing/2014/main" val="3644034724"/>
                  </a:ext>
                </a:extLst>
              </a:tr>
              <a:tr h="474057">
                <a:tc>
                  <a:txBody>
                    <a:bodyPr/>
                    <a:lstStyle/>
                    <a:p>
                      <a:pPr>
                        <a:buNone/>
                      </a:pPr>
                      <a:r>
                        <a:rPr lang="en-US" sz="1200">
                          <a:latin typeface="Times New Roman" panose="02020603050405020304" pitchFamily="18" charset="0"/>
                          <a:cs typeface="Times New Roman" panose="02020603050405020304" pitchFamily="18" charset="0"/>
                        </a:rPr>
                        <a:t>Frontend Development – Core Features</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9</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Week 10</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Basic UI for patient, doctor, admin panels</a:t>
                      </a:r>
                    </a:p>
                  </a:txBody>
                  <a:tcPr marL="46659" marR="46659" marT="23330" marB="23330" anchor="ctr"/>
                </a:tc>
                <a:extLst>
                  <a:ext uri="{0D108BD9-81ED-4DB2-BD59-A6C34878D82A}">
                    <a16:rowId xmlns:a16="http://schemas.microsoft.com/office/drawing/2014/main" val="2987335380"/>
                  </a:ext>
                </a:extLst>
              </a:tr>
              <a:tr h="616273">
                <a:tc>
                  <a:txBody>
                    <a:bodyPr/>
                    <a:lstStyle/>
                    <a:p>
                      <a:pPr>
                        <a:buNone/>
                      </a:pPr>
                      <a:r>
                        <a:rPr lang="en-US" sz="1200">
                          <a:latin typeface="Times New Roman" panose="02020603050405020304" pitchFamily="18" charset="0"/>
                          <a:cs typeface="Times New Roman" panose="02020603050405020304" pitchFamily="18" charset="0"/>
                        </a:rPr>
                        <a:t>Frontend Development – Advanced Features and Integration</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11</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12</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Real-time prediction display, user dashboards</a:t>
                      </a:r>
                    </a:p>
                  </a:txBody>
                  <a:tcPr marL="46659" marR="46659" marT="23330" marB="23330" anchor="ctr"/>
                </a:tc>
                <a:extLst>
                  <a:ext uri="{0D108BD9-81ED-4DB2-BD59-A6C34878D82A}">
                    <a16:rowId xmlns:a16="http://schemas.microsoft.com/office/drawing/2014/main" val="227395469"/>
                  </a:ext>
                </a:extLst>
              </a:tr>
              <a:tr h="331840">
                <a:tc>
                  <a:txBody>
                    <a:bodyPr/>
                    <a:lstStyle/>
                    <a:p>
                      <a:pPr>
                        <a:buNone/>
                      </a:pPr>
                      <a:r>
                        <a:rPr lang="en-US" sz="1200">
                          <a:latin typeface="Times New Roman" panose="02020603050405020304" pitchFamily="18" charset="0"/>
                          <a:cs typeface="Times New Roman" panose="02020603050405020304" pitchFamily="18" charset="0"/>
                        </a:rPr>
                        <a:t>Integration, Testing, and Optimization</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13</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13</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Fully integrated system, bug fixes</a:t>
                      </a:r>
                    </a:p>
                  </a:txBody>
                  <a:tcPr marL="46659" marR="46659" marT="23330" marB="23330" anchor="ctr"/>
                </a:tc>
                <a:extLst>
                  <a:ext uri="{0D108BD9-81ED-4DB2-BD59-A6C34878D82A}">
                    <a16:rowId xmlns:a16="http://schemas.microsoft.com/office/drawing/2014/main" val="1053687934"/>
                  </a:ext>
                </a:extLst>
              </a:tr>
              <a:tr h="474057">
                <a:tc>
                  <a:txBody>
                    <a:bodyPr/>
                    <a:lstStyle/>
                    <a:p>
                      <a:pPr>
                        <a:buNone/>
                      </a:pPr>
                      <a:r>
                        <a:rPr lang="en-US" sz="1200">
                          <a:latin typeface="Times New Roman" panose="02020603050405020304" pitchFamily="18" charset="0"/>
                          <a:cs typeface="Times New Roman" panose="02020603050405020304" pitchFamily="18" charset="0"/>
                        </a:rPr>
                        <a:t>User Acceptance Testing and Refinement</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14</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15</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User feedback implementation, performance tuning</a:t>
                      </a:r>
                    </a:p>
                  </a:txBody>
                  <a:tcPr marL="46659" marR="46659" marT="23330" marB="23330" anchor="ctr"/>
                </a:tc>
                <a:extLst>
                  <a:ext uri="{0D108BD9-81ED-4DB2-BD59-A6C34878D82A}">
                    <a16:rowId xmlns:a16="http://schemas.microsoft.com/office/drawing/2014/main" val="449448155"/>
                  </a:ext>
                </a:extLst>
              </a:tr>
              <a:tr h="474057">
                <a:tc>
                  <a:txBody>
                    <a:bodyPr/>
                    <a:lstStyle/>
                    <a:p>
                      <a:pPr>
                        <a:buNone/>
                      </a:pPr>
                      <a:r>
                        <a:rPr lang="en-US" sz="1200" dirty="0">
                          <a:latin typeface="Times New Roman" panose="02020603050405020304" pitchFamily="18" charset="0"/>
                          <a:cs typeface="Times New Roman" panose="02020603050405020304" pitchFamily="18" charset="0"/>
                        </a:rPr>
                        <a:t>Deployment and Final Review</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16</a:t>
                      </a:r>
                    </a:p>
                  </a:txBody>
                  <a:tcPr marL="46659" marR="46659" marT="23330" marB="23330" anchor="ctr"/>
                </a:tc>
                <a:tc>
                  <a:txBody>
                    <a:bodyPr/>
                    <a:lstStyle/>
                    <a:p>
                      <a:pPr>
                        <a:buNone/>
                      </a:pPr>
                      <a:r>
                        <a:rPr lang="en-US" sz="1200">
                          <a:latin typeface="Times New Roman" panose="02020603050405020304" pitchFamily="18" charset="0"/>
                          <a:cs typeface="Times New Roman" panose="02020603050405020304" pitchFamily="18" charset="0"/>
                        </a:rPr>
                        <a:t>Week 16</a:t>
                      </a:r>
                    </a:p>
                  </a:txBody>
                  <a:tcPr marL="46659" marR="46659" marT="23330" marB="23330" anchor="ctr"/>
                </a:tc>
                <a:tc>
                  <a:txBody>
                    <a:bodyPr/>
                    <a:lstStyle/>
                    <a:p>
                      <a:pPr>
                        <a:buNone/>
                      </a:pPr>
                      <a:r>
                        <a:rPr lang="en-US" sz="1200" dirty="0">
                          <a:latin typeface="Times New Roman" panose="02020603050405020304" pitchFamily="18" charset="0"/>
                          <a:cs typeface="Times New Roman" panose="02020603050405020304" pitchFamily="18" charset="0"/>
                        </a:rPr>
                        <a:t>Final deployment, project presentation</a:t>
                      </a:r>
                    </a:p>
                  </a:txBody>
                  <a:tcPr marL="46659" marR="46659" marT="23330" marB="23330" anchor="ctr"/>
                </a:tc>
                <a:extLst>
                  <a:ext uri="{0D108BD9-81ED-4DB2-BD59-A6C34878D82A}">
                    <a16:rowId xmlns:a16="http://schemas.microsoft.com/office/drawing/2014/main" val="1480608576"/>
                  </a:ext>
                </a:extLst>
              </a:tr>
            </a:tbl>
          </a:graphicData>
        </a:graphic>
      </p:graphicFrame>
      <p:sp>
        <p:nvSpPr>
          <p:cNvPr id="6" name="TextBox 5">
            <a:extLst>
              <a:ext uri="{FF2B5EF4-FFF2-40B4-BE49-F238E27FC236}">
                <a16:creationId xmlns:a16="http://schemas.microsoft.com/office/drawing/2014/main" id="{D65A7332-2500-0090-7FE5-1969E46AA2B5}"/>
              </a:ext>
            </a:extLst>
          </p:cNvPr>
          <p:cNvSpPr txBox="1"/>
          <p:nvPr/>
        </p:nvSpPr>
        <p:spPr>
          <a:xfrm>
            <a:off x="626883" y="820132"/>
            <a:ext cx="7640425"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project is structured into distinct phases to ensure systematic development and timely delivery. Each phase focuses on specific objectives and deliverables, from initial planning to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6866A1-6FDE-DF51-623D-F8448BCAC6B8}"/>
              </a:ext>
            </a:extLst>
          </p:cNvPr>
          <p:cNvPicPr>
            <a:picLocks noGrp="1" noChangeAspect="1"/>
          </p:cNvPicPr>
          <p:nvPr>
            <p:ph idx="1"/>
          </p:nvPr>
        </p:nvPicPr>
        <p:blipFill>
          <a:blip r:embed="rId2"/>
          <a:stretch>
            <a:fillRect/>
          </a:stretch>
        </p:blipFill>
        <p:spPr>
          <a:xfrm>
            <a:off x="948053" y="1478243"/>
            <a:ext cx="7247893" cy="4353997"/>
          </a:xfrm>
        </p:spPr>
      </p:pic>
      <p:sp>
        <p:nvSpPr>
          <p:cNvPr id="6" name="TextBox 5">
            <a:extLst>
              <a:ext uri="{FF2B5EF4-FFF2-40B4-BE49-F238E27FC236}">
                <a16:creationId xmlns:a16="http://schemas.microsoft.com/office/drawing/2014/main" id="{67B69496-C297-7144-1B6A-C7FA4DA12B2E}"/>
              </a:ext>
            </a:extLst>
          </p:cNvPr>
          <p:cNvSpPr txBox="1"/>
          <p:nvPr/>
        </p:nvSpPr>
        <p:spPr>
          <a:xfrm>
            <a:off x="1319753" y="537328"/>
            <a:ext cx="58634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Timeline (Gantt Chart)</a:t>
            </a:r>
          </a:p>
        </p:txBody>
      </p:sp>
    </p:spTree>
    <p:extLst>
      <p:ext uri="{BB962C8B-B14F-4D97-AF65-F5344CB8AC3E}">
        <p14:creationId xmlns:p14="http://schemas.microsoft.com/office/powerpoint/2010/main" val="2999115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4873"/>
            <a:ext cx="8229600" cy="868444"/>
          </a:xfrm>
        </p:spPr>
        <p:txBody>
          <a:bodyPr>
            <a:normAutofit/>
          </a:bodyPr>
          <a:lstStyle/>
          <a:p>
            <a:pPr>
              <a:defRPr sz="4400" b="1">
                <a:solidFill>
                  <a:srgbClr val="1E40AF"/>
                </a:solidFill>
                <a:latin typeface="Calibri"/>
              </a:defRPr>
            </a:pPr>
            <a:r>
              <a:rPr sz="3600" dirty="0">
                <a:latin typeface="Times New Roman" panose="02020603050405020304" pitchFamily="18" charset="0"/>
                <a:cs typeface="Times New Roman" panose="02020603050405020304" pitchFamily="18" charset="0"/>
              </a:rPr>
              <a:t>Expected Outcomes</a:t>
            </a:r>
          </a:p>
        </p:txBody>
      </p:sp>
      <p:sp>
        <p:nvSpPr>
          <p:cNvPr id="3" name="Content Placeholder 2"/>
          <p:cNvSpPr>
            <a:spLocks noGrp="1"/>
          </p:cNvSpPr>
          <p:nvPr>
            <p:ph idx="1"/>
          </p:nvPr>
        </p:nvSpPr>
        <p:spPr>
          <a:xfrm>
            <a:off x="338328" y="874916"/>
            <a:ext cx="8467344" cy="5902955"/>
          </a:xfrm>
        </p:spPr>
        <p:txBody>
          <a:bodyPr wrap="square">
            <a:noAutofit/>
          </a:bodyPr>
          <a:lstStyle/>
          <a:p>
            <a:pPr marL="0" indent="0">
              <a:buNone/>
            </a:pPr>
            <a:r>
              <a:rPr lang="en-US" sz="1600" b="1" dirty="0">
                <a:latin typeface="Times New Roman" panose="02020603050405020304" pitchFamily="18" charset="0"/>
                <a:cs typeface="Times New Roman" panose="02020603050405020304" pitchFamily="18" charset="0"/>
              </a:rPr>
              <a:t>Final Deliverables of the Project</a:t>
            </a:r>
          </a:p>
          <a:p>
            <a:pPr marL="0" indent="0">
              <a:buNone/>
            </a:pPr>
            <a:r>
              <a:rPr lang="en-US" sz="1400" dirty="0"/>
              <a:t>  </a:t>
            </a:r>
            <a:r>
              <a:rPr lang="en-US" sz="1400" dirty="0">
                <a:latin typeface="Times New Roman" panose="02020603050405020304" pitchFamily="18" charset="0"/>
                <a:cs typeface="Times New Roman" panose="02020603050405020304" pitchFamily="18" charset="0"/>
              </a:rPr>
              <a:t> • Functional multi-disease prediction system</a:t>
            </a:r>
          </a:p>
          <a:p>
            <a:pPr marL="0" indent="0">
              <a:buNone/>
            </a:pPr>
            <a:r>
              <a:rPr lang="en-US" sz="1400" dirty="0">
                <a:latin typeface="Times New Roman" panose="02020603050405020304" pitchFamily="18" charset="0"/>
                <a:cs typeface="Times New Roman" panose="02020603050405020304" pitchFamily="18" charset="0"/>
              </a:rPr>
              <a:t>   • Machine learning models optimized per disease:</a:t>
            </a:r>
          </a:p>
          <a:p>
            <a:pPr marL="0" indent="0">
              <a:buNone/>
            </a:pPr>
            <a:r>
              <a:rPr lang="en-US" sz="1400" dirty="0">
                <a:latin typeface="Times New Roman" panose="02020603050405020304" pitchFamily="18" charset="0"/>
                <a:cs typeface="Times New Roman" panose="02020603050405020304" pitchFamily="18" charset="0"/>
              </a:rPr>
              <a:t>     	- Random Forest for Diabetes (75-85% accuracy)</a:t>
            </a:r>
          </a:p>
          <a:p>
            <a:pPr marL="0" indent="0">
              <a:buNone/>
            </a:pPr>
            <a:r>
              <a:rPr lang="en-US" sz="1400" dirty="0">
                <a:latin typeface="Times New Roman" panose="02020603050405020304" pitchFamily="18" charset="0"/>
                <a:cs typeface="Times New Roman" panose="02020603050405020304" pitchFamily="18" charset="0"/>
              </a:rPr>
              <a:t>     	- Logistic Regression for Heart Disease (80-90% accuracy)</a:t>
            </a:r>
          </a:p>
          <a:p>
            <a:pPr marL="0" indent="0">
              <a:buNone/>
            </a:pPr>
            <a:r>
              <a:rPr lang="en-US" sz="1400" dirty="0">
                <a:latin typeface="Times New Roman" panose="02020603050405020304" pitchFamily="18" charset="0"/>
                <a:cs typeface="Times New Roman" panose="02020603050405020304" pitchFamily="18" charset="0"/>
              </a:rPr>
              <a:t>     	- SVM with RBF for Kidney Disease (90-95% accuracy)</a:t>
            </a:r>
          </a:p>
          <a:p>
            <a:pPr marL="0" indent="0">
              <a:lnSpc>
                <a:spcPct val="150000"/>
              </a:lnSpc>
              <a:buNone/>
            </a:pPr>
            <a:r>
              <a:rPr lang="en-US" sz="1400" dirty="0">
                <a:latin typeface="Times New Roman" panose="02020603050405020304" pitchFamily="18" charset="0"/>
                <a:cs typeface="Times New Roman" panose="02020603050405020304" pitchFamily="18" charset="0"/>
              </a:rPr>
              <a:t>• Role-based access control system with three user roles:</a:t>
            </a:r>
          </a:p>
          <a:p>
            <a:pPr marL="0" indent="0">
              <a:buNone/>
            </a:pPr>
            <a:r>
              <a:rPr lang="en-US" sz="1400" dirty="0">
                <a:latin typeface="Times New Roman" panose="02020603050405020304" pitchFamily="18" charset="0"/>
                <a:cs typeface="Times New Roman" panose="02020603050405020304" pitchFamily="18" charset="0"/>
              </a:rPr>
              <a:t>     	- Patient role: Disease predictions, history tracking, profile management</a:t>
            </a:r>
          </a:p>
          <a:p>
            <a:pPr marL="0" indent="0">
              <a:buNone/>
            </a:pPr>
            <a:r>
              <a:rPr lang="en-US" sz="1400" dirty="0">
                <a:latin typeface="Times New Roman" panose="02020603050405020304" pitchFamily="18" charset="0"/>
                <a:cs typeface="Times New Roman" panose="02020603050405020304" pitchFamily="18" charset="0"/>
              </a:rPr>
              <a:t>     	- Doctor role: Patient management, prediction reviews, high-risk alerts</a:t>
            </a:r>
          </a:p>
          <a:p>
            <a:pPr marL="0" indent="0">
              <a:buNone/>
            </a:pPr>
            <a:r>
              <a:rPr lang="en-US" sz="1400" dirty="0">
                <a:latin typeface="Times New Roman" panose="02020603050405020304" pitchFamily="18" charset="0"/>
                <a:cs typeface="Times New Roman" panose="02020603050405020304" pitchFamily="18" charset="0"/>
              </a:rPr>
              <a:t>     	- Admin role: User management, system analytics, configuration settings</a:t>
            </a:r>
          </a:p>
          <a:p>
            <a:pPr marL="0" indent="0">
              <a:lnSpc>
                <a:spcPct val="150000"/>
              </a:lnSpc>
              <a:buNone/>
            </a:pPr>
            <a:r>
              <a:rPr lang="en-US" sz="1400" dirty="0">
                <a:latin typeface="Times New Roman" panose="02020603050405020304" pitchFamily="18" charset="0"/>
                <a:cs typeface="Times New Roman" panose="02020603050405020304" pitchFamily="18" charset="0"/>
              </a:rPr>
              <a:t>   • Multi-language translation feature (Google Translate API)</a:t>
            </a:r>
          </a:p>
          <a:p>
            <a:pPr marL="0" indent="0">
              <a:buNone/>
            </a:pPr>
            <a:r>
              <a:rPr lang="en-US" sz="1400" dirty="0">
                <a:latin typeface="Times New Roman" panose="02020603050405020304" pitchFamily="18" charset="0"/>
                <a:cs typeface="Times New Roman" panose="02020603050405020304" pitchFamily="18" charset="0"/>
              </a:rPr>
              <a:t>   • Real-time alert system for high-risk predictions</a:t>
            </a:r>
          </a:p>
          <a:p>
            <a:pPr marL="0" indent="0">
              <a:buNone/>
            </a:pPr>
            <a:r>
              <a:rPr lang="en-US" sz="1400" dirty="0">
                <a:latin typeface="Times New Roman" panose="02020603050405020304" pitchFamily="18" charset="0"/>
                <a:cs typeface="Times New Roman" panose="02020603050405020304" pitchFamily="18" charset="0"/>
              </a:rPr>
              <a:t>   • Comprehensive patient output with:</a:t>
            </a:r>
          </a:p>
          <a:p>
            <a:pPr marL="0" indent="0">
              <a:buNone/>
            </a:pPr>
            <a:r>
              <a:rPr lang="en-US" sz="1400" dirty="0">
                <a:latin typeface="Times New Roman" panose="02020603050405020304" pitchFamily="18" charset="0"/>
                <a:cs typeface="Times New Roman" panose="02020603050405020304" pitchFamily="18" charset="0"/>
              </a:rPr>
              <a:t>     	- Risk level assessment (Low, Medium, High, Critical)</a:t>
            </a:r>
          </a:p>
          <a:p>
            <a:pPr marL="0" indent="0">
              <a:buNone/>
            </a:pPr>
            <a:r>
              <a:rPr lang="en-US" sz="1400" dirty="0">
                <a:latin typeface="Times New Roman" panose="02020603050405020304" pitchFamily="18" charset="0"/>
                <a:cs typeface="Times New Roman" panose="02020603050405020304" pitchFamily="18" charset="0"/>
              </a:rPr>
              <a:t>     	- Life cycle management recommendations</a:t>
            </a:r>
          </a:p>
          <a:p>
            <a:pPr marL="0" indent="0">
              <a:buNone/>
            </a:pPr>
            <a:r>
              <a:rPr lang="en-US" sz="1400" dirty="0">
                <a:latin typeface="Times New Roman" panose="02020603050405020304" pitchFamily="18" charset="0"/>
                <a:cs typeface="Times New Roman" panose="02020603050405020304" pitchFamily="18" charset="0"/>
              </a:rPr>
              <a:t>     	- Daily routines and lifestyle guidance</a:t>
            </a:r>
          </a:p>
          <a:p>
            <a:pPr marL="0" indent="0">
              <a:buNone/>
            </a:pPr>
            <a:r>
              <a:rPr lang="en-US" sz="1400" dirty="0">
                <a:latin typeface="Times New Roman" panose="02020603050405020304" pitchFamily="18" charset="0"/>
                <a:cs typeface="Times New Roman" panose="02020603050405020304" pitchFamily="18" charset="0"/>
              </a:rPr>
              <a:t>     	- Personalized food and nutrition recommendations</a:t>
            </a:r>
          </a:p>
          <a:p>
            <a:pPr marL="0" indent="0">
              <a:lnSpc>
                <a:spcPct val="150000"/>
              </a:lnSpc>
              <a:buNone/>
            </a:pPr>
            <a:r>
              <a:rPr lang="en-US" sz="1400" dirty="0">
                <a:latin typeface="Times New Roman" panose="02020603050405020304" pitchFamily="18" charset="0"/>
                <a:cs typeface="Times New Roman" panose="02020603050405020304" pitchFamily="18" charset="0"/>
              </a:rPr>
              <a:t>     	- Customized exercise and physical activity plans</a:t>
            </a:r>
          </a:p>
          <a:p>
            <a:pPr marL="0" indent="0">
              <a:buNone/>
            </a:pPr>
            <a:r>
              <a:rPr lang="en-US" sz="1400" dirty="0">
                <a:latin typeface="Times New Roman" panose="02020603050405020304" pitchFamily="18" charset="0"/>
                <a:cs typeface="Times New Roman" panose="02020603050405020304" pitchFamily="18" charset="0"/>
              </a:rPr>
              <a:t>  • Complete source code repository (GitHub)</a:t>
            </a:r>
          </a:p>
          <a:p>
            <a:pPr marL="0" indent="0">
              <a:buNone/>
            </a:pPr>
            <a:endParaRPr sz="1000"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97717D60-0660-9915-32B1-784BB736711E}"/>
              </a:ext>
            </a:extLst>
          </p:cNvPr>
          <p:cNvPicPr>
            <a:picLocks noGrp="1" noChangeAspect="1"/>
          </p:cNvPicPr>
          <p:nvPr>
            <p:ph idx="1"/>
          </p:nvPr>
        </p:nvPicPr>
        <p:blipFill>
          <a:blip r:embed="rId2"/>
          <a:stretch>
            <a:fillRect/>
          </a:stretch>
        </p:blipFill>
        <p:spPr>
          <a:xfrm>
            <a:off x="2757182" y="153326"/>
            <a:ext cx="3854985" cy="6539705"/>
          </a:xfrm>
        </p:spPr>
      </p:pic>
    </p:spTree>
    <p:extLst>
      <p:ext uri="{BB962C8B-B14F-4D97-AF65-F5344CB8AC3E}">
        <p14:creationId xmlns:p14="http://schemas.microsoft.com/office/powerpoint/2010/main" val="1802632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62F61-49F8-4F5A-10D8-416C71BB6DB9}"/>
              </a:ext>
            </a:extLst>
          </p:cNvPr>
          <p:cNvSpPr>
            <a:spLocks noGrp="1"/>
          </p:cNvSpPr>
          <p:nvPr>
            <p:ph idx="1"/>
          </p:nvPr>
        </p:nvSpPr>
        <p:spPr>
          <a:xfrm>
            <a:off x="457200" y="697992"/>
            <a:ext cx="8229600" cy="4525963"/>
          </a:xfrm>
        </p:spPr>
        <p:txBody>
          <a:bodyPr>
            <a:normAutofit fontScale="62500" lnSpcReduction="20000"/>
          </a:bodyPr>
          <a:lstStyle/>
          <a:p>
            <a:pPr marL="0" indent="0" algn="ctr">
              <a:buNone/>
            </a:pPr>
            <a:r>
              <a:rPr lang="en-US" b="1" dirty="0">
                <a:latin typeface="Times New Roman" panose="02020603050405020304" pitchFamily="18" charset="0"/>
                <a:cs typeface="Times New Roman" panose="02020603050405020304" pitchFamily="18" charset="0"/>
              </a:rPr>
              <a:t>	Anticipated Impact or Benefits</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Early disease detection: 75-95% prediction accuracy (disease-specific)</a:t>
            </a:r>
          </a:p>
          <a:p>
            <a:r>
              <a:rPr lang="en-US" dirty="0">
                <a:latin typeface="Times New Roman" panose="02020603050405020304" pitchFamily="18" charset="0"/>
                <a:cs typeface="Times New Roman" panose="02020603050405020304" pitchFamily="18" charset="0"/>
              </a:rPr>
              <a:t>Accessible healthcare: Free and available to all users</a:t>
            </a:r>
          </a:p>
          <a:p>
            <a:r>
              <a:rPr lang="en-US" dirty="0">
                <a:latin typeface="Times New Roman" panose="02020603050405020304" pitchFamily="18" charset="0"/>
                <a:cs typeface="Times New Roman" panose="02020603050405020304" pitchFamily="18" charset="0"/>
              </a:rPr>
              <a:t>Multi-language support: Enables access for non-English speakers</a:t>
            </a:r>
          </a:p>
          <a:p>
            <a:r>
              <a:rPr lang="en-US" dirty="0">
                <a:latin typeface="Times New Roman" panose="02020603050405020304" pitchFamily="18" charset="0"/>
                <a:cs typeface="Times New Roman" panose="02020603050405020304" pitchFamily="18" charset="0"/>
              </a:rPr>
              <a:t>Real-time alerts: Enable immediate action for high-risk cases</a:t>
            </a:r>
          </a:p>
          <a:p>
            <a:r>
              <a:rPr lang="en-US" dirty="0">
                <a:latin typeface="Times New Roman" panose="02020603050405020304" pitchFamily="18" charset="0"/>
                <a:cs typeface="Times New Roman" panose="02020603050405020304" pitchFamily="18" charset="0"/>
              </a:rPr>
              <a:t>Improved preventive care: Through personalized recommendations</a:t>
            </a:r>
          </a:p>
          <a:p>
            <a:r>
              <a:rPr lang="en-US" dirty="0">
                <a:latin typeface="Times New Roman" panose="02020603050405020304" pitchFamily="18" charset="0"/>
                <a:cs typeface="Times New Roman" panose="02020603050405020304" pitchFamily="18" charset="0"/>
              </a:rPr>
              <a:t>Comprehensive lifestyle guidance: Improves patient adherence</a:t>
            </a:r>
          </a:p>
          <a:p>
            <a:r>
              <a:rPr lang="en-US" dirty="0">
                <a:latin typeface="Times New Roman" panose="02020603050405020304" pitchFamily="18" charset="0"/>
                <a:cs typeface="Times New Roman" panose="02020603050405020304" pitchFamily="18" charset="0"/>
              </a:rPr>
              <a:t>Support for healthcare professionals: Detailed patient insights</a:t>
            </a:r>
          </a:p>
          <a:p>
            <a:r>
              <a:rPr lang="en-US" dirty="0">
                <a:latin typeface="Times New Roman" panose="02020603050405020304" pitchFamily="18" charset="0"/>
                <a:cs typeface="Times New Roman" panose="02020603050405020304" pitchFamily="18" charset="0"/>
              </a:rPr>
              <a:t>Reduced healthcare costs: Early detection prevents expensive treatments</a:t>
            </a:r>
          </a:p>
          <a:p>
            <a:r>
              <a:rPr lang="en-US" dirty="0">
                <a:latin typeface="Times New Roman" panose="02020603050405020304" pitchFamily="18" charset="0"/>
                <a:cs typeface="Times New Roman" panose="02020603050405020304" pitchFamily="18" charset="0"/>
              </a:rPr>
              <a:t>Better patient outcomes: Timely intervention saves lives</a:t>
            </a:r>
          </a:p>
          <a:p>
            <a:r>
              <a:rPr lang="en-US" dirty="0">
                <a:latin typeface="Times New Roman" panose="02020603050405020304" pitchFamily="18" charset="0"/>
                <a:cs typeface="Times New Roman" panose="02020603050405020304" pitchFamily="18" charset="0"/>
              </a:rPr>
              <a:t>Global accessibility: Available to users worldwide regardless of location</a:t>
            </a:r>
          </a:p>
          <a:p>
            <a:r>
              <a:rPr lang="en-US" dirty="0">
                <a:latin typeface="Times New Roman" panose="02020603050405020304" pitchFamily="18" charset="0"/>
                <a:cs typeface="Times New Roman" panose="02020603050405020304" pitchFamily="18" charset="0"/>
              </a:rPr>
              <a:t>User-friendly interface: Easy to use for all age groups</a:t>
            </a:r>
          </a:p>
        </p:txBody>
      </p:sp>
    </p:spTree>
    <p:extLst>
      <p:ext uri="{BB962C8B-B14F-4D97-AF65-F5344CB8AC3E}">
        <p14:creationId xmlns:p14="http://schemas.microsoft.com/office/powerpoint/2010/main" val="1425987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400" b="1">
                <a:solidFill>
                  <a:srgbClr val="1E40AF"/>
                </a:solidFill>
                <a:latin typeface="Calibri"/>
              </a:defRPr>
            </a:pPr>
            <a:r>
              <a:rPr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372357" y="1311422"/>
            <a:ext cx="8583105" cy="5187099"/>
          </a:xfrm>
        </p:spPr>
        <p:txBody>
          <a:bodyPr wrap="square">
            <a:normAutofit/>
          </a:bodyPr>
          <a:lstStyle/>
          <a:p>
            <a:pPr marL="0" indent="0" algn="just">
              <a:lnSpc>
                <a:spcPct val="150000"/>
              </a:lnSpc>
              <a:spcAft>
                <a:spcPts val="1200"/>
              </a:spcAft>
              <a:buNone/>
            </a:pPr>
            <a:r>
              <a:rPr lang="en-US" sz="2400" dirty="0">
                <a:latin typeface="Times New Roman" panose="02020603050405020304" pitchFamily="18" charset="0"/>
                <a:cs typeface="Times New Roman" panose="02020603050405020304" pitchFamily="18" charset="0"/>
              </a:rPr>
              <a:t>This project presents an AI-powered web-based healthcare system that predicts multiple diseases using machine learning, provides real-time alerts, and supports multiple languages. It addresses major healthcare challenges such as delayed diagnosis and limited access, offering accurate, accessible, and data-driven health insights for all users. In the future, the system can expand into a mobile-friendly platform with wearable integration, chatbot, telemedicine features , location add, additional disease predictions, and record support to enhance scalability and impact.</a:t>
            </a:r>
          </a:p>
          <a:p>
            <a:pPr marL="0" indent="0">
              <a:spcAft>
                <a:spcPts val="1200"/>
              </a:spcAft>
              <a:buNone/>
            </a:pP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BAB134-3FCE-9CA2-3492-3FDE75040D3B}"/>
              </a:ext>
            </a:extLst>
          </p:cNvPr>
          <p:cNvSpPr txBox="1"/>
          <p:nvPr/>
        </p:nvSpPr>
        <p:spPr>
          <a:xfrm>
            <a:off x="763571" y="320511"/>
            <a:ext cx="7183225" cy="523220"/>
          </a:xfrm>
          <a:prstGeom prst="rect">
            <a:avLst/>
          </a:prstGeom>
          <a:noFill/>
        </p:spPr>
        <p:txBody>
          <a:bodyPr wrap="square" rtlCol="0">
            <a:spAutoFit/>
          </a:bodyPr>
          <a:lstStyle/>
          <a:p>
            <a:pPr algn="ctr"/>
            <a:r>
              <a:rPr lang="en-US" sz="2800" b="1" dirty="0">
                <a:solidFill>
                  <a:srgbClr val="07009C"/>
                </a:solidFill>
                <a:latin typeface="Times New Roman" panose="02020603050405020304" pitchFamily="18" charset="0"/>
                <a:cs typeface="Times New Roman" panose="02020603050405020304" pitchFamily="18" charset="0"/>
              </a:rPr>
              <a:t>Reference</a:t>
            </a:r>
          </a:p>
        </p:txBody>
      </p:sp>
      <p:sp>
        <p:nvSpPr>
          <p:cNvPr id="6" name="TextBox 5">
            <a:extLst>
              <a:ext uri="{FF2B5EF4-FFF2-40B4-BE49-F238E27FC236}">
                <a16:creationId xmlns:a16="http://schemas.microsoft.com/office/drawing/2014/main" id="{5106BA8F-220B-8F94-52A4-66518E47E69D}"/>
              </a:ext>
            </a:extLst>
          </p:cNvPr>
          <p:cNvSpPr txBox="1"/>
          <p:nvPr/>
        </p:nvSpPr>
        <p:spPr>
          <a:xfrm>
            <a:off x="631596" y="1055802"/>
            <a:ext cx="8163612" cy="5355312"/>
          </a:xfrm>
          <a:prstGeom prst="rect">
            <a:avLst/>
          </a:prstGeom>
          <a:noFill/>
        </p:spPr>
        <p:txBody>
          <a:bodyPr wrap="square" rtlCol="0">
            <a:spAutoFit/>
          </a:bodyPr>
          <a:lstStyle/>
          <a:p>
            <a:r>
              <a:rPr lang="en-US" dirty="0"/>
              <a:t>World Health Organization (2024). </a:t>
            </a:r>
            <a:r>
              <a:rPr lang="en-US" i="1" dirty="0"/>
              <a:t>Noncommunicable diseases</a:t>
            </a:r>
            <a:r>
              <a:rPr lang="en-US" dirty="0"/>
              <a:t>. [online] World Health Organization. Available at: </a:t>
            </a:r>
            <a:r>
              <a:rPr lang="en-US" u="sng" dirty="0">
                <a:hlinkClick r:id="rId2"/>
              </a:rPr>
              <a:t>https://www.who.int/news-room/fact-sheets/detail/noncommunicable-diseases</a:t>
            </a:r>
            <a:r>
              <a:rPr lang="en-US" dirty="0"/>
              <a:t>. </a:t>
            </a:r>
          </a:p>
          <a:p>
            <a:endParaRPr lang="en-US" dirty="0"/>
          </a:p>
          <a:p>
            <a:r>
              <a:rPr lang="en-US" dirty="0"/>
              <a:t>‌Frank </a:t>
            </a:r>
            <a:r>
              <a:rPr lang="en-US" dirty="0" err="1"/>
              <a:t>Edughom</a:t>
            </a:r>
            <a:r>
              <a:rPr lang="en-US" dirty="0"/>
              <a:t> </a:t>
            </a:r>
            <a:r>
              <a:rPr lang="en-US" dirty="0" err="1"/>
              <a:t>Ekpar</a:t>
            </a:r>
            <a:r>
              <a:rPr lang="en-US" dirty="0"/>
              <a:t> (2024). A Comprehensive Artificial Intelligence-Driven Healthcare System. </a:t>
            </a:r>
            <a:r>
              <a:rPr lang="en-US" i="1" dirty="0"/>
              <a:t>European Journal of Electrical Engineering and Computer Science</a:t>
            </a:r>
            <a:r>
              <a:rPr lang="en-US" dirty="0"/>
              <a:t>, 8(3), pp.1–6. </a:t>
            </a:r>
            <a:r>
              <a:rPr lang="en-US" dirty="0" err="1"/>
              <a:t>doi</a:t>
            </a:r>
            <a:r>
              <a:rPr lang="en-US" dirty="0"/>
              <a:t>: </a:t>
            </a:r>
            <a:r>
              <a:rPr lang="en-US" u="sng" dirty="0">
                <a:hlinkClick r:id="rId3"/>
              </a:rPr>
              <a:t>https://doi.org/10.24018/ejece.2024.8.3.617</a:t>
            </a:r>
            <a:r>
              <a:rPr lang="en-US" dirty="0"/>
              <a:t>. </a:t>
            </a:r>
          </a:p>
          <a:p>
            <a:endParaRPr lang="en-US" dirty="0"/>
          </a:p>
          <a:p>
            <a:r>
              <a:rPr lang="en-US" dirty="0"/>
              <a:t>Xie, S., Yu, Z. and </a:t>
            </a:r>
            <a:r>
              <a:rPr lang="en-US" dirty="0" err="1"/>
              <a:t>Lv</a:t>
            </a:r>
            <a:r>
              <a:rPr lang="en-US" dirty="0"/>
              <a:t>, Z. (2021). Multi-Disease Prediction Based on Deep Learning: A Survey. </a:t>
            </a:r>
            <a:r>
              <a:rPr lang="en-US" i="1" dirty="0"/>
              <a:t>Computer Modeling in Engineering &amp; Sciences</a:t>
            </a:r>
            <a:r>
              <a:rPr lang="en-US" dirty="0"/>
              <a:t>, 128(2), pp.489–522. </a:t>
            </a:r>
            <a:r>
              <a:rPr lang="en-US" dirty="0" err="1"/>
              <a:t>doi</a:t>
            </a:r>
            <a:r>
              <a:rPr lang="en-US" dirty="0"/>
              <a:t>: </a:t>
            </a:r>
            <a:r>
              <a:rPr lang="en-US" u="sng" dirty="0">
                <a:hlinkClick r:id="rId4"/>
              </a:rPr>
              <a:t>https://doi.org/10.32604/cmes.2021.016728</a:t>
            </a:r>
            <a:r>
              <a:rPr lang="en-US" dirty="0"/>
              <a:t>. </a:t>
            </a:r>
          </a:p>
          <a:p>
            <a:endParaRPr lang="en-US" dirty="0"/>
          </a:p>
          <a:p>
            <a:r>
              <a:rPr lang="en-US" dirty="0"/>
              <a:t>Amutha, R. and Sank, R. (2024). MULTIPLE DISEASE PREDICTION SYSTEM USING MACHINE LEARNING. [online] 11. Available at: </a:t>
            </a:r>
            <a:r>
              <a:rPr lang="en-US" u="sng" dirty="0">
                <a:hlinkClick r:id="rId5"/>
              </a:rPr>
              <a:t>https://www.jetir.org/papers/JETIRGG06032.pdf</a:t>
            </a:r>
            <a:r>
              <a:rPr lang="en-US" dirty="0"/>
              <a:t>  [Accessed 1 Nov. 2025].  </a:t>
            </a:r>
          </a:p>
          <a:p>
            <a:endParaRPr lang="en-US" dirty="0"/>
          </a:p>
          <a:p>
            <a:endParaRPr lang="en-US" dirty="0"/>
          </a:p>
          <a:p>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802</TotalTime>
  <Words>1951</Words>
  <Application>Microsoft Office PowerPoint</Application>
  <PresentationFormat>On-screen Show (4:3)</PresentationFormat>
  <Paragraphs>258</Paragraphs>
  <Slides>18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Development Project - CIS 6035 Proposal AI-Powered Smart Healthcare System for Multi-Disease Prediction, Risk Assessment, and Personalized Health Recommendations </vt:lpstr>
      <vt:lpstr>Introduction</vt:lpstr>
      <vt:lpstr>Problem Statement</vt:lpstr>
      <vt:lpstr>PowerPoint Presentation</vt:lpstr>
      <vt:lpstr>PowerPoint Presentation</vt:lpstr>
      <vt:lpstr>Objectives</vt:lpstr>
      <vt:lpstr>Proposed Solution / System Overview</vt:lpstr>
      <vt:lpstr>PowerPoint Presentation</vt:lpstr>
      <vt:lpstr>PowerPoint Presentation</vt:lpstr>
      <vt:lpstr>System Design / Methodology</vt:lpstr>
      <vt:lpstr>PowerPoint Presentation</vt:lpstr>
      <vt:lpstr>Work Plan / Timeline </vt:lpstr>
      <vt:lpstr>PowerPoint Presentation</vt:lpstr>
      <vt:lpstr>Expected Outcomes</vt:lpstr>
      <vt:lpstr>PowerPoint Presentation</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Nizmiya Gnanaseelan</dc:creator>
  <cp:keywords/>
  <dc:description>generated using python-pptx</dc:description>
  <cp:lastModifiedBy>Nizmiya Gnanaseelan</cp:lastModifiedBy>
  <cp:revision>17</cp:revision>
  <dcterms:created xsi:type="dcterms:W3CDTF">2013-01-27T09:14:16Z</dcterms:created>
  <dcterms:modified xsi:type="dcterms:W3CDTF">2025-11-08T15:09:25Z</dcterms:modified>
  <cp:category/>
</cp:coreProperties>
</file>